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79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3763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782F4-1F80-C276-C042-DBEC39ED6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F58B6-FB4B-EED0-F2CA-33320734B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C210C3-FA48-49B5-7D9E-ED076C2C0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A57A5-902C-1F57-0AD2-4FDFA112D8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94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C++ Programming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1F5F9"/>
                </a:solidFill>
              </a:rPr>
              <a:t>Lecture 3: Conditional Statements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</a:rPr>
              <a:t>What Are Conditional Statements? 🔀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0891B2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Programs that make decisions based on conditions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</a:rPr>
              <a:t>Real-world Example: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2423160"/>
            <a:ext cx="64008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1554480" y="25603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78DD"/>
                </a:solidFill>
              </a:rPr>
              <a:t>IF</a:t>
            </a:r>
            <a:r>
              <a:rPr lang="en-US" sz="1600" dirty="0">
                <a:solidFill>
                  <a:srgbClr val="000000"/>
                </a:solidFill>
              </a:rPr>
              <a:t> it's raining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    Take an umbrella ☂️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C678DD"/>
                </a:solidFill>
              </a:rPr>
              <a:t>ELSE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    Wear sunglasses 😎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Python vs C++ Syntax: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4023360" cy="4572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 &gt;= 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3931920"/>
            <a:ext cx="4023360" cy="4572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2" name="Text 10"/>
          <p:cNvSpPr/>
          <p:nvPr/>
        </p:nvSpPr>
        <p:spPr>
          <a:xfrm>
            <a:off x="4846320" y="4069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(age &gt;= 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Comparison Operators 📊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926077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Operator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==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Equal to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5 == 5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!=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Not equal to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5 != 3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&gt;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Greater than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7 &gt; 3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&lt;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Less than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3 &lt; 7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&gt;=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Greater or equal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5 &gt;= 5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&lt;=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Less or equal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4 &lt;= 5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891B2"/>
                </a:solidFill>
              </a:rPr>
              <a:t>💡 In C++: true = 1, false = 0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The if Statement 🎯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</a:rPr>
              <a:t>Syntax: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9144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(condition)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code executes if true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63440" y="1097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</a:rPr>
              <a:t>Example 1: Basic Check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023360" cy="146304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8" name="Text 6"/>
          <p:cNvSpPr/>
          <p:nvPr/>
        </p:nvSpPr>
        <p:spPr>
          <a:xfrm>
            <a:off x="4846320" y="16002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 = 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(age &gt;= 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4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an adult.";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Example 2: User Input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61738" y="3034009"/>
            <a:ext cx="6610662" cy="1629431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1" name="Text 9"/>
          <p:cNvSpPr/>
          <p:nvPr/>
        </p:nvSpPr>
        <p:spPr>
          <a:xfrm>
            <a:off x="1554480" y="329184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score: 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score;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(score &gt;=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"Excellent! A!";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</a:rPr>
              <a:t>if-else Statement: Example 1 ⚖️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4481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</a:rPr>
              <a:t>Even or Odd Checker: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79489" y="1334125"/>
            <a:ext cx="7450111" cy="1881265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1097280" y="1637675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number;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a number: 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number;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(number %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number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is even.";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number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is odd.";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Sample Runs: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566160"/>
            <a:ext cx="36576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8" name="Text 6"/>
          <p:cNvSpPr/>
          <p:nvPr/>
        </p:nvSpPr>
        <p:spPr>
          <a:xfrm>
            <a:off x="1097280" y="3657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Enter a number: </a:t>
            </a:r>
            <a:r>
              <a:rPr lang="en-US" sz="1300" dirty="0">
                <a:solidFill>
                  <a:srgbClr val="0891B2"/>
                </a:solidFill>
              </a:rPr>
              <a:t>8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8 is even.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3566160"/>
            <a:ext cx="36576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Text 8"/>
          <p:cNvSpPr/>
          <p:nvPr/>
        </p:nvSpPr>
        <p:spPr>
          <a:xfrm>
            <a:off x="5212080" y="3657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Enter a number: </a:t>
            </a:r>
            <a:r>
              <a:rPr lang="en-US" sz="1300" dirty="0">
                <a:solidFill>
                  <a:srgbClr val="0891B2"/>
                </a:solidFill>
              </a:rPr>
              <a:t>7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7 is odd.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</a:rPr>
              <a:t>if-else Statement: Example 2 📝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1483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</a:rPr>
              <a:t>Pass or Fail: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325880"/>
            <a:ext cx="7315200" cy="18745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your score: 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score;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(score &gt;=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passed! 🎉";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failed.";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1CACB-9824-1451-7A9A-D285741C5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972E21-0C08-C32C-04EE-4674AADA5ADC}"/>
              </a:ext>
            </a:extLst>
          </p:cNvPr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>
                <a:solidFill>
                  <a:srgbClr val="1E3A8A"/>
                </a:solidFill>
              </a:rPr>
              <a:t>if-else Statement: Example 3 </a:t>
            </a:r>
            <a:r>
              <a:rPr lang="en-US" sz="3600" b="1" dirty="0">
                <a:solidFill>
                  <a:srgbClr val="0891B2"/>
                </a:solidFill>
              </a:rPr>
              <a:t>🌡️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6464276-1348-AB2B-C348-0E79C5469135}"/>
              </a:ext>
            </a:extLst>
          </p:cNvPr>
          <p:cNvSpPr/>
          <p:nvPr/>
        </p:nvSpPr>
        <p:spPr>
          <a:xfrm>
            <a:off x="457200" y="101483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891B2"/>
                </a:solidFill>
              </a:rPr>
              <a:t>Temperature Check 🌡️ </a:t>
            </a:r>
            <a:r>
              <a:rPr lang="en-US" sz="1800" b="1" dirty="0">
                <a:solidFill>
                  <a:srgbClr val="0891B2"/>
                </a:solidFill>
              </a:rPr>
              <a:t>: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8980B4E-6FA3-141F-604C-F29ACFB18974}"/>
              </a:ext>
            </a:extLst>
          </p:cNvPr>
          <p:cNvSpPr/>
          <p:nvPr/>
        </p:nvSpPr>
        <p:spPr>
          <a:xfrm>
            <a:off x="914400" y="1318385"/>
            <a:ext cx="7315200" cy="18745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4A50E9C-2BC3-19BE-7C9A-E01768746064}"/>
              </a:ext>
            </a:extLst>
          </p:cNvPr>
          <p:cNvSpPr/>
          <p:nvPr/>
        </p:nvSpPr>
        <p:spPr>
          <a:xfrm>
            <a:off x="1097280" y="1600199"/>
            <a:ext cx="6949440" cy="1493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temp;</a:t>
            </a:r>
            <a:endParaRPr lang="en-US" sz="1300" dirty="0"/>
          </a:p>
          <a:p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temp;</a:t>
            </a:r>
            <a:endParaRPr lang="en-US" sz="1300" dirty="0"/>
          </a:p>
          <a:p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(temp &gt;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"Hot! Drink water.";</a:t>
            </a:r>
            <a:endParaRPr lang="en-US" sz="1300" dirty="0"/>
          </a:p>
          <a:p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</a:p>
          <a:p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"Comfortable.";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</a:rPr>
              <a:t>if-else if-else: Grade Calculator 🎓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score (0-100): 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score;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(score &gt;=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"Grade: A"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(score &gt;=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"Grade: B"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(score &gt;=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"Grade: C"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(score &gt;=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"Grade: D"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"Grade: F"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</a:rPr>
              <a:t>if-else if-else: Age Categories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your age: 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age;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(age &lt;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"Invalid age!"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(age &lt;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child."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(age &lt;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teenager."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(age &lt;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an adult."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senior."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</a:rPr>
              <a:t>if-else if-else: Traffic Light 🚦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light;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light (R/Y/G): 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light;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(light == </a:t>
            </a: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 light == </a:t>
            </a: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"STOP! 🛑"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(light == </a:t>
            </a: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 light == </a:t>
            </a: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"SLOW DOWN! ⚠️"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(light == </a:t>
            </a: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 light == </a:t>
            </a: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"GO! ✅"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"Invalid input!"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</a:rPr>
              <a:t>Nested if: Can You Drive? 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</a:rPr>
              <a:t>if statements inside other if statements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25603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4"/>
          <p:cNvSpPr/>
          <p:nvPr/>
        </p:nvSpPr>
        <p:spPr>
          <a:xfrm>
            <a:off x="1097280" y="1965960"/>
            <a:ext cx="6949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age; </a:t>
            </a: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hasLicense;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age &gt;&gt; hasLicense;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(age &gt;=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(hasLicense)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can drive!"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</a:t>
            </a: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"Need license first."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 young to drive."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</a:rPr>
              <a:t>Nested if: Grade with Bonus 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22860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1097280" y="132588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score; </a:t>
            </a: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bonus;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score &gt;&gt; bonus;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(score &gt;=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"Grade: A"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(bonus)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"Perfect! A+"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"Grade: B or lower"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Example 3: Number Classification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4023360"/>
            <a:ext cx="6400800" cy="4572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1554480" y="4160520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(num &gt;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</a:t>
            </a: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(num %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cout &lt;&lt; 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"Positive &amp; Even"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Logical Operators 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0891B2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Combine multiple conditions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16459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Operator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&amp;&amp;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AND (both must be true)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(x &gt; 5 &amp;&amp; x &lt; 10)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||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OR (at least one true)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(x &lt; 5 || x &gt; 10)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!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NOT (reverses)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!(x == 5)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891B2"/>
                </a:solidFill>
              </a:rPr>
              <a:t>We'll explore each one in detail! 👉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AND Operator (&amp;&amp;) 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BOTH conditions must be true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Truth Table: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573039"/>
              </p:ext>
            </p:extLst>
          </p:nvPr>
        </p:nvGraphicFramePr>
        <p:xfrm>
          <a:off x="457200" y="2194560"/>
          <a:ext cx="3897442" cy="1828800"/>
        </p:xfrm>
        <a:graphic>
          <a:graphicData uri="http://schemas.openxmlformats.org/drawingml/2006/table">
            <a:tbl>
              <a:tblPr/>
              <a:tblGrid>
                <a:gridCol w="1081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6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X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X &amp;&amp; 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true 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18288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Examples: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663440" y="2194560"/>
            <a:ext cx="4023360" cy="9144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9" name="Text 6"/>
          <p:cNvSpPr/>
          <p:nvPr/>
        </p:nvSpPr>
        <p:spPr>
          <a:xfrm>
            <a:off x="4846320" y="2331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Teenager: 13-19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(age &gt;=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age &lt;=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"Teen";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3291840"/>
            <a:ext cx="4023360" cy="9144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1" name="Text 8"/>
          <p:cNvSpPr/>
          <p:nvPr/>
        </p:nvSpPr>
        <p:spPr>
          <a:xfrm>
            <a:off x="4846320" y="34290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 score: 0-100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(score &gt;=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score &lt;=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"Valid";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OR Operator (||) 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At least ONE condition must be true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Truth Table: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32435"/>
              </p:ext>
            </p:extLst>
          </p:nvPr>
        </p:nvGraphicFramePr>
        <p:xfrm>
          <a:off x="457200" y="2194560"/>
          <a:ext cx="4023360" cy="1828800"/>
        </p:xfrm>
        <a:graphic>
          <a:graphicData uri="http://schemas.openxmlformats.org/drawingml/2006/table">
            <a:tbl>
              <a:tblPr/>
              <a:tblGrid>
                <a:gridCol w="134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X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X || 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true 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true 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18288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Examples: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663440" y="2194560"/>
            <a:ext cx="4023360" cy="9144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9" name="Text 6"/>
          <p:cNvSpPr/>
          <p:nvPr/>
        </p:nvSpPr>
        <p:spPr>
          <a:xfrm>
            <a:off x="4846320" y="2331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Weekend check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(day ==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 day ==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"Weekend! 🎉"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3291840"/>
            <a:ext cx="4023360" cy="9144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1" name="Text 8"/>
          <p:cNvSpPr/>
          <p:nvPr/>
        </p:nvSpPr>
        <p:spPr>
          <a:xfrm>
            <a:off x="4846320" y="34290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Pass or excused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(score &gt;=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 score == -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"Pass!"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NOT Operator (!) ↔️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Reverses the boolean value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0" y="1828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Truth Table: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486735"/>
              </p:ext>
            </p:extLst>
          </p:nvPr>
        </p:nvGraphicFramePr>
        <p:xfrm>
          <a:off x="1828800" y="2194560"/>
          <a:ext cx="5486400" cy="1005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X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! X 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Examples: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371600" y="3657600"/>
            <a:ext cx="6400800" cy="82296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9" name="Text 6"/>
          <p:cNvSpPr/>
          <p:nvPr/>
        </p:nvSpPr>
        <p:spPr>
          <a:xfrm>
            <a:off x="1554480" y="379476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(!(pin == 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 </a:t>
            </a:r>
            <a:r>
              <a:rPr lang="en-US" sz="14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Same as: pin != 1234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(!ready)  </a:t>
            </a:r>
            <a:r>
              <a:rPr lang="en-US" sz="14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Same as: ready == false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</a:rPr>
              <a:t>Combining Multiple Operators 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91B2"/>
                </a:solidFill>
              </a:rPr>
              <a:t>You can combine &amp;&amp;, ||, and ! together: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30175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31520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age; </a:t>
            </a: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age &gt;&gt; student;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Discount if: child OR senior OR student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(age &lt;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 age &gt;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 student)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get a discount!";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"Regular price.";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Common Mistakes 🚫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1. Using = instead of ==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618488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 = 5)  // Assignment! // ❌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 == 5)  // Comparison // ✅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9" name="Text 6"/>
          <p:cNvSpPr/>
          <p:nvPr/>
        </p:nvSpPr>
        <p:spPr>
          <a:xfrm>
            <a:off x="640080" y="2194560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2. Forgetting braces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395728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 &gt; 5) cout &lt;&lt; "A"; cout &lt;&lt; "B"; // ❌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60604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 &gt; 5) { cout &lt;&lt; "A"; cout &lt;&lt; "B"; } // ✅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3" name="Text 10"/>
          <p:cNvSpPr/>
          <p:nvPr/>
        </p:nvSpPr>
        <p:spPr>
          <a:xfrm>
            <a:off x="640080" y="2971800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3. Semicolon after if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3172968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 &gt; 5);  // Empty block! // ❌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338328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 &gt; 5) { statement; }// ✅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7" name="Text 14"/>
          <p:cNvSpPr/>
          <p:nvPr/>
        </p:nvSpPr>
        <p:spPr>
          <a:xfrm>
            <a:off x="640080" y="3749040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4. Wrong logical operator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" y="3950208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(age &gt;= 13 || age &lt;= 19)  // Always true! // ❌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416052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(age &gt;= 13 &amp;&amp; age &lt;= 19)  // Correct // ✅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43891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891B2"/>
                </a:solidFill>
              </a:rPr>
              <a:t>💡 Compiler catches these early!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</a:rPr>
              <a:t>Complete Example: BMI Calculator 🏃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weight, height, bmi;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"Weight (kg): "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cin &gt;&gt; weight;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"Height (m): "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cin &gt;&gt; height;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bmi = weight / (height * height);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"BMI: "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bmi;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(bmi &lt;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18.5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"Underweight";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(bmi &lt;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"Normal";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(bmi &lt;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"Overweight";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"Obese" 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</a:rPr>
              <a:t>Complete Example: Login System 🔐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username, password;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"=== Login System ==="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"Username: "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cin &gt;&gt; username;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"Password: "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cin &gt;&gt; password;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(username == </a:t>
            </a: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"admin"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password == </a:t>
            </a: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"1234"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 successful! ✅"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(username == </a:t>
            </a: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"admin"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"Wrong password! ❌";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 not found! ❌";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</a:rPr>
              <a:t>Complete Example: Leap Year 🗓️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year; </a:t>
            </a:r>
            <a:b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isLeap = </a:t>
            </a: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year;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(year % </a:t>
            </a: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(year % </a:t>
            </a: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(year % </a:t>
            </a: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isLeap = </a:t>
            </a: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</a:t>
            </a: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isLeap = </a:t>
            </a: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(isLeap) cout &lt;&lt; </a:t>
            </a: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"Leap year!";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cout &lt;&lt; </a:t>
            </a: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 leap year.";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</a:rPr>
              <a:t>Complete Example: Simple Calculator ➗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num1, num2; </a:t>
            </a:r>
            <a:b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num1 &gt;&gt; op &gt;&gt; num2;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(op == </a:t>
            </a: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'+'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num1 + num2;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(op == </a:t>
            </a: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num1 - num2;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(op == </a:t>
            </a: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num1 * num2;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(op == </a:t>
            </a: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(num2 != </a:t>
            </a: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cout &lt;&lt; num1 / num2;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cout &lt;&lt; </a:t>
            </a: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"Error: Division by zero!";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</a:t>
            </a: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"Invalid operator!";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We Learned Today ✅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63040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146304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if, if-else, if-else if-else statements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10512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91640" y="181051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Comparison operators: ==, !=, &lt;, &gt;, &lt;=, &gt;=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157984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91640" y="2157984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Nested if statements for complex logic</a:t>
            </a:r>
            <a:endParaRPr lang="en-US" sz="17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505456"/>
            <a:ext cx="228600" cy="228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691640" y="2505456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Logical operators: &amp;&amp; (AND), || (OR), ! (NOT)</a:t>
            </a:r>
            <a:endParaRPr lang="en-US" sz="17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852928"/>
            <a:ext cx="228600" cy="228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691640" y="2852928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Truth tables and combining conditions</a:t>
            </a:r>
            <a:endParaRPr lang="en-US" sz="17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200400"/>
            <a:ext cx="228600" cy="2286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691640" y="320040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Common mistakes to avoid</a:t>
            </a:r>
            <a:endParaRPr lang="en-US" sz="17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547872"/>
            <a:ext cx="228600" cy="2286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691640" y="354787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Real-world complete examples</a:t>
            </a:r>
            <a:endParaRPr lang="en-US" sz="1700" dirty="0"/>
          </a:p>
        </p:txBody>
      </p:sp>
      <p:sp>
        <p:nvSpPr>
          <p:cNvPr id="17" name="Text 8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Practice makes perfect! 💪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645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Great Job!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1F5F9"/>
                </a:solidFill>
              </a:rPr>
              <a:t>Next: Loops &amp; Iteration! 🔁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1790</Words>
  <Application>Microsoft Macintosh PowerPoint</Application>
  <PresentationFormat>On-screen Show (16:9)</PresentationFormat>
  <Paragraphs>376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3: Conditional Statements</dc:title>
  <dc:subject>PptxGenJS Presentation</dc:subject>
  <dc:creator>C++ Course</dc:creator>
  <cp:lastModifiedBy>Fawaz Alazemi</cp:lastModifiedBy>
  <cp:revision>2</cp:revision>
  <dcterms:created xsi:type="dcterms:W3CDTF">2026-02-12T17:14:34Z</dcterms:created>
  <dcterms:modified xsi:type="dcterms:W3CDTF">2026-02-12T17:39:20Z</dcterms:modified>
</cp:coreProperties>
</file>