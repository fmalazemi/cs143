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88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vs Static Memory &amp; Pointers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0" y="3337560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University  •  CS Department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Memory Management?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0891B2">
              <a:alpha val="15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C++, you control when and where memory is allocated. Unlike Python, the programmer decides between automatic (stack) and manual (heap) memory.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20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828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memory: size known at compile time, managed automatically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32888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4871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memory: size decided at runtime, managed manually with new / delete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91256"/>
            <a:ext cx="347472" cy="3474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3145536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Pointers: variables that store memory addresses — the link between the two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9624"/>
            <a:ext cx="347472" cy="34747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80390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bugs (leaks, dangling pointers) are among the most common C++ errors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Memory — The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749040" cy="1645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Key Properties
</a:t>
            </a:r>
            <a:r>
              <a:rPr lang="en-US" sz="1200" dirty="0">
                <a:solidFill>
                  <a:srgbClr val="1E293B"/>
                </a:solidFill>
              </a:rPr>
              <a:t>• Size known at compile time
• Freed when function returns
• Very fast allocation
• Limited size (~1-8 MB)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868680"/>
            <a:ext cx="4389120" cy="1645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4480560" y="96012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Analogy
</a:t>
            </a:r>
            <a:r>
              <a:rPr lang="en-US" sz="1200" dirty="0">
                <a:solidFill>
                  <a:srgbClr val="1E293B"/>
                </a:solidFill>
              </a:rPr>
              <a:t>Like a reserved parking spot — fixed size, always available while you're in the building, automatically freed when you leave.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321040" cy="21488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7955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stackDemo()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 = 10;                      // allocated on the stack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arr[5] = {1, 2, 3, 4, 5};   // fixed-size array, stack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x &lt;&lt; endl;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all variables freed automatically here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stackDemo();   // memory for x and arr is gone after this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— Basics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205072"/>
              </p:ext>
            </p:extLst>
          </p:nvPr>
        </p:nvGraphicFramePr>
        <p:xfrm>
          <a:off x="365760" y="868680"/>
          <a:ext cx="8321040" cy="1792224"/>
        </p:xfrm>
        <a:graphic>
          <a:graphicData uri="http://schemas.openxmlformats.org/drawingml/2006/table">
            <a:tbl>
              <a:tblPr/>
              <a:tblGrid>
                <a:gridCol w="277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Syntax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Meaning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Example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int* ptr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Declare a pointer to int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int* ptr;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&amp;value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Address-of: get the address of value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ptr = &amp;value;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*ptr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Dereference: get the value at address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cout &lt;&lt; *ptr;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ptr = nullptr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Point to nothing (safe null)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int* p = nullptr;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2724016"/>
            <a:ext cx="8321040" cy="2076583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3"/>
          <p:cNvSpPr/>
          <p:nvPr/>
        </p:nvSpPr>
        <p:spPr>
          <a:xfrm>
            <a:off x="548640" y="2633472"/>
            <a:ext cx="79552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value = 42;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ptr = &amp;value;   // ptr holds the address of value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value   &lt;&lt; endl;  // Output: 42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ptr     &lt;&lt; endl;  // Output: 0x7ffd... (some address)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*ptr    &lt;&lt; endl;  // Output: 42  (dereferenced)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*ptr = 99;             // Modify value through the pointer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value   &lt;&lt; endl;  // Output: 99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Pointers Work — Visually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9260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292608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Variable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value = 42;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2240280"/>
            <a:ext cx="1828800" cy="5486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118872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Address: 0x1000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148840"/>
            <a:ext cx="54864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34840" y="1280160"/>
            <a:ext cx="29260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4434840" y="1280160"/>
            <a:ext cx="292608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Variable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1772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ptr = &amp;value;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83480" y="2240280"/>
            <a:ext cx="1828800" cy="548640"/>
          </a:xfrm>
          <a:prstGeom prst="rect">
            <a:avLst/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4" name="Text 11"/>
          <p:cNvSpPr/>
          <p:nvPr/>
        </p:nvSpPr>
        <p:spPr>
          <a:xfrm>
            <a:off x="498348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1772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Stores address, not value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8229600" cy="132588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7" name="Text 14"/>
          <p:cNvSpPr/>
          <p:nvPr/>
        </p:nvSpPr>
        <p:spPr>
          <a:xfrm>
            <a:off x="685800" y="3611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stores the address of </a:t>
            </a: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Using </a:t>
            </a:r>
            <a:r>
              <a:rPr lang="en-US" sz="14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*ptr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dereferences the pointer — it follows the address to read or modify the original value.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" y="4206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is a slip of paper with an address written on it — it doesn't hold the value, it tells you where to find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Arithmetic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1 to a pointer moves it forward by the size of the type (e.g., 4 bytes for int).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828800" cy="59436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/ 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18288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2514600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460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p+1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18288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4" name="Text 12"/>
          <p:cNvSpPr/>
          <p:nvPr/>
        </p:nvSpPr>
        <p:spPr>
          <a:xfrm>
            <a:off x="4572000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p+2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1325880"/>
            <a:ext cx="18288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8" name="Text 16"/>
          <p:cNvSpPr/>
          <p:nvPr/>
        </p:nvSpPr>
        <p:spPr>
          <a:xfrm>
            <a:off x="6629400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p+3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8321040" cy="2057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2" name="Text 20"/>
          <p:cNvSpPr/>
          <p:nvPr/>
        </p:nvSpPr>
        <p:spPr>
          <a:xfrm>
            <a:off x="548640" y="2852928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arr[4] = {10, 20, 30, 40};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p = arr;              // p points to arr[0]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*p     &lt;&lt; endl;   // Output: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*(p+1) &lt;&lt; endl;   // Output: 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*(p+2) &lt;&lt; endl;   // Output: 30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p++;                       // Move pointer forward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*p     &lt;&lt; endl;   // Output: 20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— new &amp; delete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1371600"/>
          </a:xfrm>
          <a:prstGeom prst="rect">
            <a:avLst/>
          </a:prstGeom>
          <a:solidFill>
            <a:srgbClr val="D1FAE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new
</a:t>
            </a:r>
            <a:r>
              <a:rPr lang="en-US" sz="1200" dirty="0">
                <a:solidFill>
                  <a:srgbClr val="1E293B"/>
                </a:solidFill>
              </a:rPr>
              <a:t>Allocates memory on the heap at runtime. Returns a pointer to the allocated memory.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80560" y="868680"/>
            <a:ext cx="4206240" cy="13716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</a:rPr>
              <a:t>delete
</a:t>
            </a:r>
            <a:r>
              <a:rPr lang="en-US" sz="1200" dirty="0">
                <a:solidFill>
                  <a:srgbClr val="1E293B"/>
                </a:solidFill>
              </a:rPr>
              <a:t>Frees the memory allocated by new. Must be called manually — forgetting causes a memory leak.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321040" cy="24231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7955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Allocate a single integer on the heap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p = new int;    // or: new int(55) to initialize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 = 55;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*p &lt;&lt; endl;  // Output: 55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p;            // Free the memory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nullptr;         // Always set to nullptr after delete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Allocate and initialize in one step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 d = new double(3.14);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d;   d = nullptr;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Arrays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32104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determined at runtime — can read from user input or compute during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321040" cy="32918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795528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"Enter array size: 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n;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Allocate array on the heap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arr = new int[n];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Fill with values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arr[i] = (i + 1) * 10;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delete[] for arrays (NOT delete)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delete[] arr;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nullptr;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Dynamic — Side by Side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77056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(Stack)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(Heap)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Fixed, known ahead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Decided at runtime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Until function returns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Until delete is called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(OS call)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~1–8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by 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(new / delete)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overflow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leak, dangling ptr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Memory Mistakes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144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27432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9326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2618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delete after new — memory is never freed.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664208"/>
            <a:ext cx="4160520" cy="5029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365760" y="17099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p = new int(10);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 ends — LEAK!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22860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27432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3042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delete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26334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delete instead of delete[] for arrays.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3035808"/>
            <a:ext cx="4160520" cy="5029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Text 12"/>
          <p:cNvSpPr/>
          <p:nvPr/>
        </p:nvSpPr>
        <p:spPr>
          <a:xfrm>
            <a:off x="365760" y="30815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arr = new int[5];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arr;  // Wrong!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delete[] arr; // Correct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36576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7" name="Text 14"/>
          <p:cNvSpPr/>
          <p:nvPr/>
        </p:nvSpPr>
        <p:spPr>
          <a:xfrm>
            <a:off x="27432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" y="36758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Pointer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40050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memory after delete.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4407408"/>
            <a:ext cx="4160520" cy="5029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365760" y="44531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*p;  // Undefined!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nullptr; // Fix it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9144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3" name="Text 20"/>
          <p:cNvSpPr/>
          <p:nvPr/>
        </p:nvSpPr>
        <p:spPr>
          <a:xfrm>
            <a:off x="466344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166360" y="9326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Uninitialized Ptr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166360" y="12618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pointer before assigning a valid address.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1664208"/>
            <a:ext cx="4160520" cy="5029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7" name="Text 24"/>
          <p:cNvSpPr/>
          <p:nvPr/>
        </p:nvSpPr>
        <p:spPr>
          <a:xfrm>
            <a:off x="4754880" y="17099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p;       // garbage!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 = 42;     // Crash risk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63440" y="22860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9" name="Text 26"/>
          <p:cNvSpPr/>
          <p:nvPr/>
        </p:nvSpPr>
        <p:spPr>
          <a:xfrm>
            <a:off x="46634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166360" y="23042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Delete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166360" y="26334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delete on the same pointer twice.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3035808"/>
            <a:ext cx="4160520" cy="5029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3" name="Text 30"/>
          <p:cNvSpPr/>
          <p:nvPr/>
        </p:nvSpPr>
        <p:spPr>
          <a:xfrm>
            <a:off x="4754880" y="30815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p;   // Undefined!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Fix: set p = nullptr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91440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36576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932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Pointer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353312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457200" y="1389888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int score=100, point to it, change it to 200 through the pointer.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28600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0" name="Text 7"/>
          <p:cNvSpPr/>
          <p:nvPr/>
        </p:nvSpPr>
        <p:spPr>
          <a:xfrm>
            <a:off x="36576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3042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Variable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724912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3" name="Text 10"/>
          <p:cNvSpPr/>
          <p:nvPr/>
        </p:nvSpPr>
        <p:spPr>
          <a:xfrm>
            <a:off x="457200" y="2761488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 double on the heap, store 9.81, print it, then free properly.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65760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Text 12"/>
          <p:cNvSpPr/>
          <p:nvPr/>
        </p:nvSpPr>
        <p:spPr>
          <a:xfrm>
            <a:off x="36576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36758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Array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096512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8" name="Text 15"/>
          <p:cNvSpPr/>
          <p:nvPr/>
        </p:nvSpPr>
        <p:spPr>
          <a:xfrm>
            <a:off x="457200" y="4133088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 from user, allocate int[n], fill with squares (1,4,9,...), print, free.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91440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0" name="Text 17"/>
          <p:cNvSpPr/>
          <p:nvPr/>
        </p:nvSpPr>
        <p:spPr>
          <a:xfrm>
            <a:off x="466344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166360" y="932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via Pointers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63440" y="1353312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3" name="Text 20"/>
          <p:cNvSpPr/>
          <p:nvPr/>
        </p:nvSpPr>
        <p:spPr>
          <a:xfrm>
            <a:off x="4754880" y="1389888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swapInts(int* a, int* b) using pointers. Test in main().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63440" y="228600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5" name="Text 22"/>
          <p:cNvSpPr/>
          <p:nvPr/>
        </p:nvSpPr>
        <p:spPr>
          <a:xfrm>
            <a:off x="46634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166360" y="23042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Maximum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663440" y="2724912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8" name="Text 25"/>
          <p:cNvSpPr/>
          <p:nvPr/>
        </p:nvSpPr>
        <p:spPr>
          <a:xfrm>
            <a:off x="4754880" y="2761488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int* findMax(int* arr, int n) returning pointer to the largest element.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41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60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memory (stack) is allocated at compile time and freed automatically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7048"/>
            <a:ext cx="292608" cy="292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463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(heap) uses new to allocate and delete to free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29968"/>
            <a:ext cx="292608" cy="292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1965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store memory addresses — use &amp; to get address, * to dereference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32888"/>
            <a:ext cx="292608" cy="29260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4400" y="2468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must be matched by delete; every new[] by delete[]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35808"/>
            <a:ext cx="292608" cy="29260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4400" y="2971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pointers to nullptr after deleting — prevents dangling pointers</a:t>
            </a:r>
            <a:endParaRPr lang="en-US" sz="13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38728"/>
            <a:ext cx="292608" cy="29260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1440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Uninitialized pointers contain garbage — always initialize to nullptr</a:t>
            </a:r>
            <a:endParaRPr lang="en-US" sz="13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41648"/>
            <a:ext cx="292608" cy="29260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1440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arithmetic advances by the size of the pointed-to type</a:t>
            </a:r>
            <a:endParaRPr lang="en-US" sz="13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44568"/>
            <a:ext cx="292608" cy="29260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14400" y="4480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bugs include leaks, dangling pointers, double delete, and uninit access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the Memory!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pointers and memory management to write fast, safe C++ programs.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References vs Pointers  •  const Pointers  •  Pointers to Objects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5650</TotalTime>
  <Words>1283</Words>
  <Application>Microsoft Macintosh PowerPoint</Application>
  <PresentationFormat>On-screen Show (16:9)</PresentationFormat>
  <Paragraphs>206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vs Static Memory &amp; Pointers</dc:title>
  <dc:subject>PptxGenJS Presentation</dc:subject>
  <dc:creator>C++ Course</dc:creator>
  <cp:lastModifiedBy>Fawaz Alazemi</cp:lastModifiedBy>
  <cp:revision>2</cp:revision>
  <dcterms:created xsi:type="dcterms:W3CDTF">2026-04-29T08:08:50Z</dcterms:created>
  <dcterms:modified xsi:type="dcterms:W3CDTF">2026-05-03T06:24:13Z</dcterms:modified>
</cp:coreProperties>
</file>