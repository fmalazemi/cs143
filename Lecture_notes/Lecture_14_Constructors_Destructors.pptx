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24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7: Constructors &amp; Destructors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3C5FD"/>
                </a:solidFill>
              </a:rPr>
              <a:t>Object Lifetime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</a:rPr>
              <a:t>What Are Constructors &amp; Destructors?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A constructor initializes an object when it is created.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A destructor cleans up an object when it is destroyed.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9933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Objects always start in a valid, predictable state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060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5877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Prevent resource leaks (memory, files, sockets)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1821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Enforce class invariants automatically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9476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7764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Foundation of RAII: Resource Acquisition Is Initialization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Default Constructor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Called automatically with no arguments when an object is created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2743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length, width, height;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Box() {                // &lt;- same name as class, no return type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length = 1.0;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width  = 1.0;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height = 1.0;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"Box created!\n";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volume() { return length * width * height;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 b;   // constructor called automatically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41879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Key rules: same name as class  |  no return type  |  may have parameters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</a:rPr>
              <a:t>Parameterized Constructor &amp; Overloading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Pass arguments for custom initialization — define multiple constructors for flexibility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0632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int age;  double gpa;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Student()                          // (1) default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name("Unknown"), age(0), gpa(0.0) {}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n)                  // (2) name only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name(n), age(0), gpa(0.0) {}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n, int a, double g) // (3) full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name(n), age(a), gpa(g) {}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s1;                    // calls (1)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s2("Alice");           // calls (2)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s3("Bob", 20, 3.8);   // calls (3)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42611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8A"/>
                </a:solidFill>
              </a:rPr>
              <a:t>The compiler selects the correct constructor based on the arguments you provide.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Initialization 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The preferred way to initialize members — required for const &amp; reference members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2286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x;   // const: MUST use initialization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y;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           colon starts the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Point(int xVal, int yVal) : x(xVal), y(yVal)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body runs after members are fully initialized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"Point(" &lt;&lt; x &lt;&lt; ", " &lt;&lt; y &lt;&lt; ") created\n";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p(3, 4);   // Output: Point(3, 4) created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9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749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Members initialize before the constructor body runs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24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22452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Required for const members and references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0001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70001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More efficient than assignment inside the body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Copy Constructor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Creates a new object as an independent copy of an existing 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79292"/>
            <a:ext cx="8412480" cy="2852628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width, height;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Rectangle(double w, double h) : width(w), height(h) {}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Copy constructor — always takes a const reference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Rectangle(const Rectangle&amp; other)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width  = other.width;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height = other.height;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area() { return width * height;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r1(4.0, 5.0);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r2 = r1;   // copy constructor called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r2.width = 10.0;     // r1.width still 4.0 — independent!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0050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If your class owns heap memory, write a deep-copy constructor (Rule of Three).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Destructor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597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Called automatically when an object goes out of scope or is deleted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200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FileManager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filename;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FileManager(string name) : filename(name)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"Opening: " &lt;&lt; filename &lt;&lt; "\n";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~FileManager() {          // &lt;- tilde (~) before 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"Closing: " &lt;&lt; filename &lt;&lt; "\n";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release resources here (close file, free memory...)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FileManager f("data.txt");   // constructor runs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f.write("Hello");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// &lt;- destructor runs automatically here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30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07365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Signature: ~ClassName()  —  no parameters, no return type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8235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40740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Cannot be overloaded — only one destructor per class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929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754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Never call it explicitly — the compiler does it for you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A"/>
                </a:solidFill>
              </a:rPr>
              <a:t>Constructor &amp; Destructor Execution Order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Constructors: creation order  |  Destructors: reverse (LIFO — Last In, First Out)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0" cy="2331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d1("Keyboard");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d2("Monitor");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d3("Speaker");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"All active\n";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scope — reverse destroy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234440"/>
            <a:ext cx="3200400" cy="233172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669280" y="1371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Constructing: Keyboard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655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Constructing: Monitor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19385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Constructing: Speaker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22219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5054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Destroying:   Speaker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788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Destroying:   Monitor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30723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Destroying:   Keyboard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3"/>
          <p:cNvSpPr/>
          <p:nvPr/>
        </p:nvSpPr>
        <p:spPr>
          <a:xfrm>
            <a:off x="548640" y="3822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</a:rPr>
              <a:t>Creation: d1 -&gt; d2 -&gt; d3          Destruction: d3 -&gt; d2 -&gt; d1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Constructor vs Destructor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94763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Constructor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Destructor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Same as class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~ClassName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Return type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Parameters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Yes (overloadable)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Overloading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(only one)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Called when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Object is created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Object is destroyed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Initialize members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Release resources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20040" y="9601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320040" y="9784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978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return type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399032"/>
            <a:ext cx="274320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void Box() { 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911096"/>
            <a:ext cx="274320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365760" y="19293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Box() { }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 return type — not even void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9601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3154680" y="9784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978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Uninitialized members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54680" y="1399032"/>
            <a:ext cx="274320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3200400" y="1417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Box() { }  // garbage!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54680" y="1911096"/>
            <a:ext cx="274320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5"/>
          <p:cNvSpPr/>
          <p:nvPr/>
        </p:nvSpPr>
        <p:spPr>
          <a:xfrm>
            <a:off x="3200400" y="19293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Box() : len(0), w(0) { }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5468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Always initialize every member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89320" y="9601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5989320" y="9784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978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const member in body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89320" y="1399032"/>
            <a:ext cx="274320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4" name="Text 21"/>
          <p:cNvSpPr/>
          <p:nvPr/>
        </p:nvSpPr>
        <p:spPr>
          <a:xfrm>
            <a:off x="6035040" y="1417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Point(int v){ x = v; }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89320" y="1911096"/>
            <a:ext cx="274320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6035040" y="19293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Point(int v) : x(v) { }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8932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const needs initialization list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320040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9" name="Text 26"/>
          <p:cNvSpPr/>
          <p:nvPr/>
        </p:nvSpPr>
        <p:spPr>
          <a:xfrm>
            <a:off x="320040" y="321868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1520" y="32186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Explicit dtor call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20040" y="3639312"/>
            <a:ext cx="274320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2" name="Text 29"/>
          <p:cNvSpPr/>
          <p:nvPr/>
        </p:nvSpPr>
        <p:spPr>
          <a:xfrm>
            <a:off x="365760" y="3657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b.~Box(); // double-destroy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040" y="4151376"/>
            <a:ext cx="274320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4" name="Text 31"/>
          <p:cNvSpPr/>
          <p:nvPr/>
        </p:nvSpPr>
        <p:spPr>
          <a:xfrm>
            <a:off x="365760" y="4169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// go out of scope naturally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20040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Dtor runs automatically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154680" y="320040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7" name="Text 34"/>
          <p:cNvSpPr/>
          <p:nvPr/>
        </p:nvSpPr>
        <p:spPr>
          <a:xfrm>
            <a:off x="3154680" y="321868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3566160" y="32186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Shallow heap copy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154680" y="3639312"/>
            <a:ext cx="274320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0" name="Text 37"/>
          <p:cNvSpPr/>
          <p:nvPr/>
        </p:nvSpPr>
        <p:spPr>
          <a:xfrm>
            <a:off x="3200400" y="3657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// compiler default copy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154680" y="4151376"/>
            <a:ext cx="274320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2" name="Text 39"/>
          <p:cNvSpPr/>
          <p:nvPr/>
        </p:nvSpPr>
        <p:spPr>
          <a:xfrm>
            <a:off x="3200400" y="4169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// write deep copy copy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154680" y="466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Rule of Three for heap memory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Practice Exercises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365760" y="103327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BankAccount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1417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Default + parameterized ctor. deposit() method. Destructor prints final balance.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365760" y="235915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2331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Temperature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2743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Three ctors: default (0°C), from Celsius, from Fahrenheit (convert internally).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65760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365760" y="368503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" y="36576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Destructor Order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" y="4069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Classes Alpha, Beta, Gamma. Observe LIFO destruction in main().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100584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4709160" y="103327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84648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Const Members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84648" y="1417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Person class with const name and birthYear. Initialization list required.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33172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709160" y="2359152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184648" y="2331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Copy Constructor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84648" y="2743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Matrix1x2 (two doubles). Verify that modifying the copy does not affect original.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Concepts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7899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Constructor: same name as class, no return type, called at creation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1056"/>
            <a:ext cx="292608" cy="29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57276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Destructor: ~ClassName, no params, no return type, called at destruction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4832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206654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Overloading: define multiple constructors for flexible initialization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78608"/>
            <a:ext cx="292608" cy="2926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256032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Initialization list: required for const/reference members; always preferred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72384"/>
            <a:ext cx="292608" cy="292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680" y="305409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Copy constructor: ClassName(const ClassName&amp; other)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292608" cy="29260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8680" y="354787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Execution order: constructors in order, destructors in reverse (LIFO)</a:t>
            </a:r>
            <a:endParaRPr lang="en-US" sz="13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59936"/>
            <a:ext cx="292608" cy="29260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68680" y="404164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Never call the destructor explicitly — the compiler handles it</a:t>
            </a:r>
            <a:endParaRPr lang="en-US" sz="13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53712"/>
            <a:ext cx="292608" cy="2926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68680" y="453542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RAII: acquire resources in constructor, release in destructor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116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You Control Object Lifetime!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1F5F9"/>
                </a:solidFill>
              </a:rPr>
              <a:t>Next: Operator Overloading — teach C++ how +, -, == work on your objects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AE6FD"/>
                </a:solidFill>
              </a:rPr>
              <a:t>ERW University  |  C++ Programming  |  Lecture 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1224</Words>
  <Application>Microsoft Macintosh PowerPoint</Application>
  <PresentationFormat>On-screen Show (16:9)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Constructors and Destructors</dc:title>
  <dc:subject>PptxGenJS Presentation</dc:subject>
  <dc:creator>C++ Course</dc:creator>
  <cp:lastModifiedBy>Fawaz Alazemi</cp:lastModifiedBy>
  <cp:revision>2</cp:revision>
  <dcterms:created xsi:type="dcterms:W3CDTF">2026-04-15T09:25:37Z</dcterms:created>
  <dcterms:modified xsi:type="dcterms:W3CDTF">2026-04-20T10:45:43Z</dcterms:modified>
</cp:coreProperties>
</file>