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85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2240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Inheritance — private, protected &amp; public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0" y="2834640"/>
            <a:ext cx="4572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Encapsulation  ✓    Classes &amp; Objects  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code · Control access · Model the real world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Inheritance?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a new class automatically receive the members of an existing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621792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child class reuse everything the parent class already has — without copying a single line of code.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 (Parent)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2677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class. It defines members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👦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  (Child)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0449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class. It inherits and can add more.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47472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public Parent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8221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syntax that creates the link.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The Family House Metaphor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real-life inheritance to C++ classes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Family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 Parent owns a house, a car, savings.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23113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Child inherits house, car, savings.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didn't build them — just got them.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can also buy new things of their own.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023360" cy="38404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4663440" y="1143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Classes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Animal has name, eat().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231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Dog inherits name, eat().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27980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didn't redeclare them — just got them.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33649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can also add bark() on its own.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⟵  Same idea, different world  ⟶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inheritance relationship in C++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           // Parent (Base 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eat() { cout &lt;&lt; name &lt;&lt; " is eating." &lt;&lt; endl;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   // Child (Derived class)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bark()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'name' and eat() already exist — inherited!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name &lt;&lt; " says: Woof!" &lt;&lt; endl;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3685032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11880" y="3685032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Dog inherits from Animal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03250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inside bark()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4032504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inherited from Animal, no redeclaration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79976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 object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4379976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 name, eat(), AND bark()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— Animal &amp; Dog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inherited members in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52120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 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d.name = "Rex";    // 'name' is from Animal — still works!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d.eat();           // inherited from Animal 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d.bark();          // Dog's own method 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143000"/>
            <a:ext cx="2926080" cy="192024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80644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4813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 is eating.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Rex says: Woof!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200400"/>
            <a:ext cx="8321040" cy="1280160"/>
          </a:xfrm>
          <a:prstGeom prst="rect">
            <a:avLst/>
          </a:prstGeom>
          <a:solidFill>
            <a:srgbClr val="1E3A8A">
              <a:alpha val="10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Key Insight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never declared 'name' or eat() — it got them free from Animal.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point of inheritance: write once, reuse everywhere.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"is-a"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 this before writing  : public Parent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53035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"Is a [Child] always a [Parent]?"   YES → inherit.    NO → don't.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8321040" cy="3474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— use inheritance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Dog is-a Animal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51760" y="22128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 is-a Vehicle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22128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Manager is-a Employee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221284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Student is-a Person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— use composition  (has-a)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Engine is-a Car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51760" y="30815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Wheel is-a Car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30815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Room is-a House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30815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Teacher is-a 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3547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class Car { Engine e; }   — Engine is a member, not a parent.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Child Actually Get?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access specifier of each member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2834640" cy="4114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member access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143000"/>
            <a:ext cx="2834640" cy="4114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3337560" y="11430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can use?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2560320" cy="4114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626364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code can use?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2834640" cy="65836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8346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256032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2834640" cy="65836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5"/>
          <p:cNvSpPr/>
          <p:nvPr/>
        </p:nvSpPr>
        <p:spPr>
          <a:xfrm>
            <a:off x="411480" y="24048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337560" y="2404872"/>
            <a:ext cx="283464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Text 17"/>
          <p:cNvSpPr/>
          <p:nvPr/>
        </p:nvSpPr>
        <p:spPr>
          <a:xfrm>
            <a:off x="3337560" y="24048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63640" y="2404872"/>
            <a:ext cx="256032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9"/>
          <p:cNvSpPr/>
          <p:nvPr/>
        </p:nvSpPr>
        <p:spPr>
          <a:xfrm>
            <a:off x="6263640" y="240487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" y="3209544"/>
            <a:ext cx="2834640" cy="658368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1"/>
          <p:cNvSpPr/>
          <p:nvPr/>
        </p:nvSpPr>
        <p:spPr>
          <a:xfrm>
            <a:off x="411480" y="320954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3337560" y="3209544"/>
            <a:ext cx="283464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Text 23"/>
          <p:cNvSpPr/>
          <p:nvPr/>
        </p:nvSpPr>
        <p:spPr>
          <a:xfrm>
            <a:off x="3337560" y="320954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63640" y="3209544"/>
            <a:ext cx="256032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7" name="Text 25"/>
          <p:cNvSpPr/>
          <p:nvPr/>
        </p:nvSpPr>
        <p:spPr>
          <a:xfrm>
            <a:off x="6263640" y="320954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1480" y="40690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 This table is the single most important concept in this lecture. Memorise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Members — Fully Open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everywhere: inside, child, and outside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0" y="164592"/>
            <a:ext cx="15544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Vehicle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speed;        // public — open to everyone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brand;     // public — open to everyone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showInfo()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brand &lt;&lt; " at " &lt;&lt; speed &lt;&lt; " km/h" &lt;&lt; endl;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 : public Vehicle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doors;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describe()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speed and brand are public → child can use them directly ✓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brand &lt;&lt; " has " &lt;&lt; doors &lt;&lt; " doors, speed=" &lt;&lt; speed &lt;&lt; endl;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 c;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c.brand = "Toyota";    // public → outside code can set it ✓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c.speed = 120;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c.doors = 4;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c.describe();          // Toyota has 4 doors, speed=120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c.showInfo();          // Toyota at 120 km/h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The Locked Diary 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children cannot read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 Parent has a locked diary.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Child lives in the same house.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diary is LOCKED.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cannot open it.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parent can read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0690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38404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4663440" y="11430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Base class has private int age.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192024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Derived class inherits from it.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288036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age is LOCKED.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class cannot access age.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Base's own methods can use 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private = "mine alone" — not even children get access.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allows — and what it blocks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0" y="164592"/>
            <a:ext cx="1554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33375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          // 🔒 only Person's own methods can use this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setAge(int a)  { age = a; }    // public gateway 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showAge()      { cout &lt;&lt; age; } // public gateway ✓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: public Person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display()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name;      // ✓ public  — 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showAge();         // ✓ public method — 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cout &lt;&lt; age;    // ✗ COMPILE ERROR — age is private!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s.name  = "Alice";   // ✓ public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s.setAge(20);        // ✓ public method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s.age = 20;       // ✗ ERROR — private!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s.display();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The Family Safe 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can open it. Strangers cannot.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Parent has a safe in the house.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👦 Child knows the combination.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6426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Child CAN open the safe.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90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A stranger has no combination.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6850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Stranger CANNOT open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0690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38404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4663440" y="11430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C++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Base has protected int balance.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194767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22951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Child class can use balance.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264261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Child CAN access it directly.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299008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0600" y="33375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main() cannot use balance.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368503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Outside code BLOCKED.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5760" y="4325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protected = "family only" — child classes yes, outsiders no.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in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inside the child — blocked outside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0" y="164592"/>
            <a:ext cx="1554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832104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          // 🔓 child classes can access, outsiders cannot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: public Person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birthday()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age++;        // ✓ protected → child CAN access directly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name &lt;&lt; " is now " &lt;&lt; age &lt;&lt; " years old." &lt;&lt; endl;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s.name = "Bob";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s.age = 20;    // ✗ ERROR — protected, blocked from outside!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s.birthday();    // only accessible through a method ✓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427024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Bob is now 1 years old.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— Side by Side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comparison in one slide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530352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0292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    int a = 1;   // open to 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 int b = 2;   // family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   int c = 3;   // Base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Child : public Base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test()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a;   // ✓ public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b;   // ✓ protected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cout &lt;&lt; c;   // ✗ ERROR — private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 obj;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obj.a;   // ✓ public —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cout &lt;&lt; obj.b;   // ✗ protected — blocked from outside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cout &lt;&lt; obj.c;   // ✗ private  — blocked from outside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97880" y="1143000"/>
            <a:ext cx="2834640" cy="38404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897880" y="114300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84848" y="114300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71816" y="114300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572768"/>
            <a:ext cx="886968" cy="594360"/>
          </a:xfrm>
          <a:prstGeom prst="rect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5897880" y="1572768"/>
            <a:ext cx="886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93992" y="1572768"/>
            <a:ext cx="9144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6793992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54112" y="1572768"/>
            <a:ext cx="9144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7754112" y="157276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97880" y="2304288"/>
            <a:ext cx="886968" cy="59436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5"/>
          <p:cNvSpPr/>
          <p:nvPr/>
        </p:nvSpPr>
        <p:spPr>
          <a:xfrm>
            <a:off x="5897880" y="2304288"/>
            <a:ext cx="886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93992" y="2304288"/>
            <a:ext cx="91440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Text 17"/>
          <p:cNvSpPr/>
          <p:nvPr/>
        </p:nvSpPr>
        <p:spPr>
          <a:xfrm>
            <a:off x="6793992" y="230428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54112" y="2304288"/>
            <a:ext cx="914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1" name="Text 19"/>
          <p:cNvSpPr/>
          <p:nvPr/>
        </p:nvSpPr>
        <p:spPr>
          <a:xfrm>
            <a:off x="7754112" y="230428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97880" y="3035808"/>
            <a:ext cx="886968" cy="594360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3" name="Text 21"/>
          <p:cNvSpPr/>
          <p:nvPr/>
        </p:nvSpPr>
        <p:spPr>
          <a:xfrm>
            <a:off x="5897880" y="3035808"/>
            <a:ext cx="886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93992" y="3035808"/>
            <a:ext cx="914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Text 23"/>
          <p:cNvSpPr/>
          <p:nvPr/>
        </p:nvSpPr>
        <p:spPr>
          <a:xfrm>
            <a:off x="6793992" y="30358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54112" y="3035808"/>
            <a:ext cx="914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7" name="Text 25"/>
          <p:cNvSpPr/>
          <p:nvPr/>
        </p:nvSpPr>
        <p:spPr>
          <a:xfrm>
            <a:off x="7754112" y="303580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Inheritance Access Specifier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 public  in  class Dog : public Animal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54864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between  :  and the parent name controls how the parent's public members appear in the child.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65176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public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240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public stays public in child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this 99% of the time 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651760" cy="411480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protected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240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public becomes protected in child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Rare, advanced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651760" cy="411480"/>
          </a:xfrm>
          <a:prstGeom prst="rect">
            <a:avLst/>
          </a:prstGeom>
          <a:solidFill>
            <a:srgbClr val="64748B">
              <a:alpha val="40000"/>
            </a:srgbClr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private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2240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6"/>
          <p:cNvSpPr/>
          <p:nvPr/>
        </p:nvSpPr>
        <p:spPr>
          <a:xfrm>
            <a:off x="617220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Parent's public becomes private in child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Very rare, special cases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03320"/>
            <a:ext cx="83210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  : public    Animal { };   // Animal's public → public  ✓ use 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  : protected Animal { };   // Animal's public → protected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  : private   Animal { };   // Animal's public → private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in Inheritance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up to the parent — the initialiser list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475488"/>
          </a:xfrm>
          <a:prstGeom prst="rect">
            <a:avLst/>
          </a:prstGeom>
          <a:solidFill>
            <a:srgbClr val="1E3A8A">
              <a:alpha val="12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parent has a constructor with parameters, the child MUST call it via the initialiser list.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832104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Animal(string n) : name(n) { }   // parent needs a 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breed;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✓ Correct: pass 'n' up to Animal using initialiser list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Dog(string n, string b) : Animal(n), breed(b) {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display()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name &lt;&lt; " (" &lt;&lt; breed &lt;&lt; ")" &lt;&lt; endl;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 d("Rex", "Labrador");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d.display();   // Rex (Labrador)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Dog("Rex", "Labrador") is called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Animal("Rex") runs first — sets name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Dog body runs — sets breed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5720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 1. Animal() runs  →  2. Dog() body runs    (always base first)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BankAccount → SavingsAccount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specifier for each member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balance;       // child can use, strangers cannot 🔓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owner;         // anyone can read 🟢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BankAccount(string o, double b) : owner(o), balance(b) 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showBalance()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owner &lt;&lt; "'s balance: $" &lt;&lt; balance &lt;&lt; endl;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SavingsAccount : public BankAccount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interestRate;   // SavingsAccount's own secret 🔒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SavingsAccount(string o, double b, double 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BankAccount(o, b), interestRate(r) {}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applyInterest()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+= balance * interestRate;  // ✓ protected — child can do 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"Interest applied. 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showBalance();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4480560"/>
            <a:ext cx="23774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411480" y="4480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 →  public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4480560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2971800" y="4480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 →  protected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4480560"/>
            <a:ext cx="3017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5806440" y="4480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interestRate  →  private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vs protected — How to Choose?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decision guide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Does a child class need to directly access this member?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child needs it.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class uses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 in BankAccount.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in User.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secretKey in Encryption.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737360"/>
            <a:ext cx="41148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4" name="Text 12"/>
          <p:cNvSpPr/>
          <p:nvPr/>
        </p:nvSpPr>
        <p:spPr>
          <a:xfrm>
            <a:off x="480060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00600" y="21488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classes need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it directly.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1546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8" name="Text 16"/>
          <p:cNvSpPr/>
          <p:nvPr/>
        </p:nvSpPr>
        <p:spPr>
          <a:xfrm>
            <a:off x="4937760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 BankAccount.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 Character.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fuelLevel in Vehicle.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Default: start with private. Switch to protected only when a child class truly needs direct access.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every beginner makes — and how to fix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75488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1978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private directly in child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527048"/>
            <a:ext cx="35661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class Animal { private: int age;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show() { cout &lt;&lt; age; }  // ✗ ERROR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527048"/>
            <a:ext cx="35661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4663440" y="156362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class Animal { protected: int age;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public Animal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show() { cout &lt;&lt; age; }  // ✓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475488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2" name="Text 10"/>
          <p:cNvSpPr/>
          <p:nvPr/>
        </p:nvSpPr>
        <p:spPr>
          <a:xfrm>
            <a:off x="365760" y="2313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3682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protected from outside code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697480"/>
            <a:ext cx="35661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Text 13"/>
          <p:cNvSpPr/>
          <p:nvPr/>
        </p:nvSpPr>
        <p:spPr>
          <a:xfrm>
            <a:off x="1005840" y="273405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Student 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s.age;   // ✗ ERROR — protected!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2697480"/>
            <a:ext cx="35661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7" name="Text 15"/>
          <p:cNvSpPr/>
          <p:nvPr/>
        </p:nvSpPr>
        <p:spPr>
          <a:xfrm>
            <a:off x="4663440" y="273405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Student 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s.showAge();     // ✓ use a public method instead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475488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9" name="Text 17"/>
          <p:cNvSpPr/>
          <p:nvPr/>
        </p:nvSpPr>
        <p:spPr>
          <a:xfrm>
            <a:off x="365760" y="3483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call the base constructor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3867912"/>
            <a:ext cx="356616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2" name="Text 20"/>
          <p:cNvSpPr/>
          <p:nvPr/>
        </p:nvSpPr>
        <p:spPr>
          <a:xfrm>
            <a:off x="1005840" y="390448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class Dog : public Animal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Dog() { }  // ✗ ERROR if Animal needs args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867912"/>
            <a:ext cx="35661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4" name="Text 22"/>
          <p:cNvSpPr/>
          <p:nvPr/>
        </p:nvSpPr>
        <p:spPr>
          <a:xfrm>
            <a:off x="4663440" y="390448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class Dog : public Animal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Dog(string n) : Animal(n) { }  //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 — check what compiles and what doesn't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621792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243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 Shape with public color and borderWidth. Derive Circle with radius. Print all three from Circle's method.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704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Shape 8"/>
          <p:cNvSpPr/>
          <p:nvPr/>
        </p:nvSpPr>
        <p:spPr>
          <a:xfrm>
            <a:off x="4800600" y="1170432"/>
            <a:ext cx="621792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1" name="Text 9"/>
          <p:cNvSpPr/>
          <p:nvPr/>
        </p:nvSpPr>
        <p:spPr>
          <a:xfrm>
            <a:off x="4800600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13832" y="12435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Blocking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with private salary and public showSalary(). Derive Manager. Call showSalary() — do NOT touch salary directly.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621792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365760" y="2587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6609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Direct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with protected fuelLevel. Derive Car with refuel(amount) that adds to fuelLevel directly. Block outside access.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58775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0" name="Shape 18"/>
          <p:cNvSpPr/>
          <p:nvPr/>
        </p:nvSpPr>
        <p:spPr>
          <a:xfrm>
            <a:off x="4800600" y="2587752"/>
            <a:ext cx="621792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1" name="Text 19"/>
          <p:cNvSpPr/>
          <p:nvPr/>
        </p:nvSpPr>
        <p:spPr>
          <a:xfrm>
            <a:off x="4800600" y="25877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13832" y="26609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Specifiers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with one public, one protected, one private member. Derive GiftBox. Use comments to show which members are accessible and which are not.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31720" y="400507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Shape 23"/>
          <p:cNvSpPr/>
          <p:nvPr/>
        </p:nvSpPr>
        <p:spPr>
          <a:xfrm>
            <a:off x="2331720" y="4005072"/>
            <a:ext cx="621792" cy="6217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KW"/>
          </a:p>
        </p:txBody>
      </p:sp>
      <p:sp>
        <p:nvSpPr>
          <p:cNvPr id="26" name="Text 24"/>
          <p:cNvSpPr/>
          <p:nvPr/>
        </p:nvSpPr>
        <p:spPr>
          <a:xfrm>
            <a:off x="2331720" y="400507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44952" y="40782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23160" y="4663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with protected balance. Derive PremiumAccount with private cashbackRate. Override deposit() to add cashback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— Basic Inheritance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3075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everywhere — inside, child, and outside world.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0" y="13075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inside the class AND child classes. Blocked from outside.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ONLY inside the class that declared it. Child cannot see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0512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1579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Dog : public Animal { } — always use public inheritance.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6" name="Text 14"/>
          <p:cNvSpPr/>
          <p:nvPr/>
        </p:nvSpPr>
        <p:spPr>
          <a:xfrm>
            <a:off x="365760" y="27066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is-a test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0083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"Is a Child always a Parent?" before every inheritance decision.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60904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19" name="Text 17"/>
          <p:cNvSpPr/>
          <p:nvPr/>
        </p:nvSpPr>
        <p:spPr>
          <a:xfrm>
            <a:off x="4846320" y="27066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0083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arguments to parent via the initialiser list: Child() : Parent(args) {}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11296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2" name="Text 20"/>
          <p:cNvSpPr/>
          <p:nvPr/>
        </p:nvSpPr>
        <p:spPr>
          <a:xfrm>
            <a:off x="36576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wisely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private by default. Switch to protected only if the child truly needs 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11296"/>
            <a:ext cx="416052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W"/>
          </a:p>
        </p:txBody>
      </p:sp>
      <p:sp>
        <p:nvSpPr>
          <p:cNvPr id="25" name="Text 23"/>
          <p:cNvSpPr/>
          <p:nvPr/>
        </p:nvSpPr>
        <p:spPr>
          <a:xfrm>
            <a:off x="484632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up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858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Overriding → Virtual Functions → Polymorphism 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2470</Words>
  <Application>Microsoft Macintosh PowerPoint</Application>
  <PresentationFormat>On-screen Show (16:9)</PresentationFormat>
  <Paragraphs>420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Inheritance in C++ — private vs public</dc:title>
  <dc:subject>PptxGenJS Presentation</dc:subject>
  <dc:creator>PptxGenJS</dc:creator>
  <cp:lastModifiedBy>Fawaz Alazemi</cp:lastModifiedBy>
  <cp:revision>2</cp:revision>
  <dcterms:created xsi:type="dcterms:W3CDTF">2026-05-04T01:34:19Z</dcterms:created>
  <dcterms:modified xsi:type="dcterms:W3CDTF">2026-05-04T07:59:41Z</dcterms:modified>
</cp:coreProperties>
</file>