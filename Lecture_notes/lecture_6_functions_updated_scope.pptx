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58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6: Functions in C++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Functions?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A block of code that performs a specific task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0574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891B2"/>
                </a:solidFill>
              </a:rPr>
              <a:t>Think of a function like a factory machine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</a:rPr>
              <a:t>Why Use Functions?</a:t>
            </a:r>
            <a:endParaRPr lang="en-US" sz="2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3464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8346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Organize code into logical blocks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5468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15468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Avoid repeating the same code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4747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Make programs easier to read</a:t>
            </a:r>
            <a:endParaRPr lang="en-US" sz="1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9476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37947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Break complex problems into smaller pieces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Functions You Already Know: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457200" y="443484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cout, cin, main()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Function Syntax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1234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returnType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functionName(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parameterList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body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Parts of a Function: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Return Type - What type returned (int, double, void)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8163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Function Name - Descriptive 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1638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Parameter List - Input values (can be empty)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3511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Function Body - Code that executes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5876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8587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Return Statement - Sends value back (not for void)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Simple Function Example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Define the Function: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554480"/>
            <a:ext cx="64008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554480" y="16916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a + b;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Call the Function: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 = add(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result;  </a:t>
            </a: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8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Function returns 8, stored in result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Function Prototypes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Tells compiler a function exists before you define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Why Needed?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Compiler reads top to bottom - must know function before 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Two Solutions: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1. Define Before main():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add(...) { ...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add(5,3);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2. Use Prototype: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 add(5,3);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add(...) { ... 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Syntax:  returnType functionName(parameterTypes);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Return Values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Functions That Return Values: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square(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 * number;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 = square(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= 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void Functions (No Return):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printMessage()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return value"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printMessage();  </a:t>
            </a: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call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Different Return Types: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620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3886200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int, double, float - Numbers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4223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4142232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bool - true or false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98264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398264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string - Text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654296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654296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void - No return value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Variable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Local Variables: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74164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 dirty="0">
                <a:solidFill>
                  <a:srgbClr val="64748B"/>
                </a:solidFill>
              </a:rPr>
              <a:t>Local variables (and parameters) exist only inside their function
(or { } block) while executing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97990"/>
            <a:ext cx="7315200" cy="1325880"/>
          </a:xfrm>
          <a:prstGeom prst="rect">
            <a:avLst/>
          </a:prstGeom>
          <a:solidFill>
            <a:srgbClr val="2D3748"/>
          </a:solidFill>
          <a:ln>
            <a:solid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20573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functionA()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functionB()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Different x, different scope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546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F59E0B"/>
                </a:solidFill>
              </a:rPr>
              <a:t>Each function / block has its own scope (inner variables can shadow outer ones)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52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Global Variables: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947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>
                <a:solidFill>
                  <a:srgbClr val="64748B"/>
                </a:solidFill>
              </a:rPr>
              <a:t>Declared outside all functions (global scope) — accessible in any function after its declaration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76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160480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F59E0B"/>
                </a:solidFill>
              </a:rPr>
              <a:t>Prefer parameters/return values; avoid mutable globals (use const or limit visibility when needed)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E3A8A"/>
                </a:solidFill>
              </a:rPr>
              <a:t>More on Scope: Block vs Global (and Lifetime)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891B2"/>
                </a:solidFill>
              </a:rPr>
              <a:t>Block scope ({ 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4197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sz="1200" dirty="0">
                <a:solidFill>
                  <a:srgbClr val="64748B"/>
                </a:solidFill>
              </a:rPr>
              <a:t>Variables declared inside { } are visible only inside that block</a:t>
            </a:r>
            <a:endParaRPr lang="en-US" sz="1200" dirty="0">
              <a:solidFill>
                <a:srgbClr val="64748B"/>
              </a:solidFill>
            </a:endParaRPr>
          </a:p>
          <a:p>
            <a:pPr marL="171450" indent="-171450" algn="just">
              <a:buFontTx/>
              <a:buChar char="-"/>
            </a:pPr>
            <a:r>
              <a:rPr sz="1200" dirty="0">
                <a:solidFill>
                  <a:srgbClr val="64748B"/>
                </a:solidFill>
              </a:rPr>
              <a:t>Loop variables (for/while) are block‑scoped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</a:p>
          <a:p>
            <a:pPr marL="171450" indent="-171450" algn="just">
              <a:buFontTx/>
              <a:buChar char="-"/>
            </a:pPr>
            <a:r>
              <a:rPr lang="en-US" sz="1200" dirty="0">
                <a:solidFill>
                  <a:srgbClr val="64748B"/>
                </a:solidFill>
              </a:rPr>
              <a:t>I</a:t>
            </a:r>
            <a:r>
              <a:rPr sz="1200" dirty="0">
                <a:solidFill>
                  <a:srgbClr val="64748B"/>
                </a:solidFill>
              </a:rPr>
              <a:t>nner declarations can shadow outer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2344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91B2"/>
                </a:solidFill>
              </a:rPr>
              <a:t>Global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508760"/>
            <a:ext cx="36576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sz="1200" b="0" dirty="0">
                <a:solidFill>
                  <a:srgbClr val="64748B"/>
                </a:solidFill>
              </a:rPr>
              <a:t>Declared outside all functions (file/global scope)</a:t>
            </a:r>
            <a:endParaRPr lang="en-US" sz="1200" dirty="0">
              <a:solidFill>
                <a:srgbClr val="64748B"/>
              </a:solidFill>
            </a:endParaRPr>
          </a:p>
          <a:p>
            <a:pPr marL="171450" indent="-171450">
              <a:buFontTx/>
              <a:buChar char="-"/>
            </a:pPr>
            <a:r>
              <a:rPr sz="1200" b="0" dirty="0">
                <a:solidFill>
                  <a:srgbClr val="64748B"/>
                </a:solidFill>
              </a:rPr>
              <a:t>Visible from its declaration to the end of the file
Across files: declare with extern, define once
Use ::name to access a global if it’s shadowed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8920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76148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59E0B"/>
                </a:solidFill>
              </a:rPr>
              <a:t>Scope = where a name is visible.  Lifetime = how long the storage exists.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154680"/>
            <a:ext cx="7772400" cy="177708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7406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chemeClr val="bg1"/>
                </a:solidFill>
                <a:latin typeface="Consolas"/>
              </a:rPr>
              <a:t>int g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sz="1200" dirty="0">
                <a:solidFill>
                  <a:schemeClr val="bg1"/>
                </a:solidFill>
                <a:latin typeface="Consolas"/>
              </a:rPr>
              <a:t>;              </a:t>
            </a:r>
            <a:r>
              <a:rPr sz="1200" dirty="0">
                <a:solidFill>
                  <a:srgbClr val="5C6370"/>
                </a:solidFill>
                <a:latin typeface="Consolas" pitchFamily="34" charset="0"/>
                <a:cs typeface="Consolas" pitchFamily="34" charset="-120"/>
              </a:rPr>
              <a:t>// global</a:t>
            </a:r>
            <a:r>
              <a:rPr sz="1200" dirty="0">
                <a:solidFill>
                  <a:schemeClr val="bg1"/>
                </a:solidFill>
                <a:latin typeface="Consolas"/>
              </a:rPr>
              <a:t>
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void</a:t>
            </a:r>
            <a:r>
              <a:rPr sz="1200" dirty="0">
                <a:solidFill>
                  <a:schemeClr val="bg1"/>
                </a:solidFill>
                <a:latin typeface="Consolas"/>
              </a:rPr>
              <a:t> demo(int g) {       </a:t>
            </a:r>
            <a:r>
              <a:rPr sz="1200" dirty="0">
                <a:solidFill>
                  <a:srgbClr val="5C6370"/>
                </a:solidFill>
                <a:latin typeface="Consolas" pitchFamily="34" charset="0"/>
                <a:cs typeface="Consolas" pitchFamily="34" charset="-120"/>
              </a:rPr>
              <a:t>// parameter shadows global</a:t>
            </a:r>
            <a:r>
              <a:rPr sz="1200" dirty="0">
                <a:solidFill>
                  <a:schemeClr val="bg1"/>
                </a:solidFill>
                <a:latin typeface="Consolas"/>
              </a:rPr>
              <a:t>
    { int g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sz="1200" dirty="0">
                <a:solidFill>
                  <a:schemeClr val="bg1"/>
                </a:solidFill>
                <a:latin typeface="Consolas"/>
              </a:rPr>
              <a:t>; }       </a:t>
            </a:r>
            <a:r>
              <a:rPr sz="1200" dirty="0">
                <a:solidFill>
                  <a:srgbClr val="5C6370"/>
                </a:solidFill>
                <a:latin typeface="Consolas" pitchFamily="34" charset="0"/>
                <a:cs typeface="Consolas" pitchFamily="34" charset="-120"/>
              </a:rPr>
              <a:t>// block variable shadows parameter</a:t>
            </a:r>
            <a:r>
              <a:rPr sz="1200" dirty="0">
                <a:solidFill>
                  <a:schemeClr val="bg1"/>
                </a:solidFill>
                <a:latin typeface="Consolas"/>
              </a:rPr>
              <a:t>
    ::g++;               </a:t>
            </a:r>
            <a:r>
              <a:rPr sz="1200" dirty="0">
                <a:solidFill>
                  <a:srgbClr val="5C6370"/>
                </a:solidFill>
                <a:latin typeface="Consolas" pitchFamily="34" charset="0"/>
                <a:cs typeface="Consolas" pitchFamily="34" charset="-120"/>
              </a:rPr>
              <a:t>// refers to global g</a:t>
            </a:r>
            <a:r>
              <a:rPr sz="1200" dirty="0">
                <a:solidFill>
                  <a:schemeClr val="bg1"/>
                </a:solidFill>
                <a:latin typeface="Consolas"/>
              </a:rPr>
              <a:t>
    static int calls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sz="1200" dirty="0">
                <a:solidFill>
                  <a:schemeClr val="bg1"/>
                </a:solidFill>
                <a:latin typeface="Consolas"/>
              </a:rPr>
              <a:t>; </a:t>
            </a:r>
            <a:r>
              <a:rPr sz="1200" dirty="0">
                <a:solidFill>
                  <a:srgbClr val="5C6370"/>
                </a:solidFill>
                <a:latin typeface="Consolas" pitchFamily="34" charset="0"/>
                <a:cs typeface="Consolas" pitchFamily="34" charset="-120"/>
              </a:rPr>
              <a:t>// local scope, but lifetime = whole program</a:t>
            </a:r>
            <a:r>
              <a:rPr sz="1200" dirty="0">
                <a:solidFill>
                  <a:schemeClr val="bg1"/>
                </a:solidFill>
                <a:latin typeface="Consolas"/>
              </a:rPr>
              <a:t>
    calls++;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1. Forgetting Return Statement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{ int sum = a+b; }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{ return a+b; 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2. Using void with Return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1343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calc() { return 5; }  // Error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calc() { return 5; }  // Correct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3. No Prototype Before Use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09067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calls add, then define add later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31012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prototype: int add(int, int);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0080" y="365760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4. Missing Semicolon in Prototype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386791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 // Missing 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08736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b);  // Correct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Convert Minutes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 hours and minutes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92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Check Leap Year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Return bool for leap year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GCD Calculator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Euclidean algorithm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Reverse Number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Reverse digits: 1234→4321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Fibonacci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Print first n numbers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Count Vowels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 a string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01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Check Palindrome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Number palindrome check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Sum of Digits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Calculate digit sum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All solutions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5544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Functions - Reusable code blocks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928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89280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 syntax - Return type, name, parameters, body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31136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23113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 prototypes - Declaring before use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6946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56946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Parameters - Passing values to functions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07792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29077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Return values - Getting results back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4612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91640" y="32461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Scope - Local vs global variables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Advanced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Practice functions and see you next time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894</Words>
  <Application>Microsoft Macintosh PowerPoint</Application>
  <PresentationFormat>On-screen Show (16:9)</PresentationFormat>
  <Paragraphs>153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Functions</dc:title>
  <dc:subject>PptxGenJS Presentation</dc:subject>
  <dc:creator>C++ Course</dc:creator>
  <cp:lastModifiedBy>Fawaz Alazemi</cp:lastModifiedBy>
  <cp:revision>2</cp:revision>
  <dcterms:created xsi:type="dcterms:W3CDTF">2026-02-13T13:18:28Z</dcterms:created>
  <dcterms:modified xsi:type="dcterms:W3CDTF">2026-03-09T07:55:16Z</dcterms:modified>
</cp:coreProperties>
</file>