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>
        <p:scale>
          <a:sx n="207" d="100"/>
          <a:sy n="207" d="100"/>
        </p:scale>
        <p:origin x="-1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99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822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1: Stack, Queue &amp; Linked List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33756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Shape 5"/>
          <p:cNvSpPr/>
          <p:nvPr/>
        </p:nvSpPr>
        <p:spPr>
          <a:xfrm>
            <a:off x="1097280" y="374904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09728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LIFO — Stack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374904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356616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FIFO — Queue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74904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818CF8">
              <a:alpha val="25000"/>
            </a:srgbClr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603504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Nodes — Linked List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with STL &amp; Custom Implementations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Data Structures?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0891B2">
              <a:alpha val="12000"/>
            </a:srgbClr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an organized way of storing and managing data so you can perform operations efficiently. C++ provides built-in STL containers like std::stack and std::queue, or you can build custom ones using classes.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3852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Last In, First Out (LIFO) — like a stack of plates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96896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5786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First In, First Out (FIFO) — like a line at a coffee shop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5526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32369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List: Dynamic nodes connected by pointers — no fixed size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13632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89534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foundational to algorithms, OS scheduling, and compilers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LIFO Principle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38912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50292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2618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recently added element is removed first — like a stack of plates.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30552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365760" y="2130552"/>
            <a:ext cx="438912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0292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Access Point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43230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see, add, or remove the TOP element at any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300984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4" name="Shape 11"/>
          <p:cNvSpPr/>
          <p:nvPr/>
        </p:nvSpPr>
        <p:spPr>
          <a:xfrm>
            <a:off x="365760" y="3300984"/>
            <a:ext cx="438912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2"/>
          <p:cNvSpPr/>
          <p:nvPr/>
        </p:nvSpPr>
        <p:spPr>
          <a:xfrm>
            <a:off x="502920" y="3300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&lt;stack&gt;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360273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STL provides std::stack as a container adapter over std::deque.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57800" y="1325880"/>
            <a:ext cx="914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Shape 16"/>
          <p:cNvSpPr/>
          <p:nvPr/>
        </p:nvSpPr>
        <p:spPr>
          <a:xfrm>
            <a:off x="8321040" y="1325880"/>
            <a:ext cx="914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5257800" y="3566160"/>
            <a:ext cx="315468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Shape 18"/>
          <p:cNvSpPr/>
          <p:nvPr/>
        </p:nvSpPr>
        <p:spPr>
          <a:xfrm>
            <a:off x="5349240" y="3063240"/>
            <a:ext cx="2971800" cy="45720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2" name="Text 19"/>
          <p:cNvSpPr/>
          <p:nvPr/>
        </p:nvSpPr>
        <p:spPr>
          <a:xfrm>
            <a:off x="5349240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push(D)  ← TOP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49240" y="2532888"/>
            <a:ext cx="2971800" cy="457200"/>
          </a:xfrm>
          <a:prstGeom prst="rect">
            <a:avLst/>
          </a:prstGeom>
          <a:solidFill>
            <a:srgbClr val="0891B2">
              <a:alpha val="7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4" name="Text 21"/>
          <p:cNvSpPr/>
          <p:nvPr/>
        </p:nvSpPr>
        <p:spPr>
          <a:xfrm>
            <a:off x="5349240" y="25328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349240" y="2002536"/>
            <a:ext cx="2971800" cy="457200"/>
          </a:xfrm>
          <a:prstGeom prst="rect">
            <a:avLst/>
          </a:prstGeom>
          <a:solidFill>
            <a:srgbClr val="3B82F6">
              <a:alpha val="7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349240" y="2002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49240" y="1472184"/>
            <a:ext cx="2971800" cy="457200"/>
          </a:xfrm>
          <a:prstGeom prst="rect">
            <a:avLst/>
          </a:prstGeom>
          <a:solidFill>
            <a:srgbClr val="64748B">
              <a:alpha val="7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5349240" y="14721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  ← BOTTOM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30568" y="1005840"/>
            <a:ext cx="0" cy="347472"/>
          </a:xfrm>
          <a:prstGeom prst="line">
            <a:avLst/>
          </a:prstGeom>
          <a:noFill/>
          <a:ln w="31750">
            <a:solidFill>
              <a:srgbClr val="F59E0B"/>
            </a:solidFill>
            <a:prstDash val="sysDash"/>
          </a:ln>
        </p:spPr>
        <p:txBody>
          <a:bodyPr/>
          <a:lstStyle/>
          <a:p>
            <a:endParaRPr lang="en-KW"/>
          </a:p>
        </p:txBody>
      </p:sp>
      <p:sp>
        <p:nvSpPr>
          <p:cNvPr id="30" name="Text 27"/>
          <p:cNvSpPr/>
          <p:nvPr/>
        </p:nvSpPr>
        <p:spPr>
          <a:xfrm>
            <a:off x="6309360" y="841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⬇ push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0" y="384048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2" name="Text 29"/>
          <p:cNvSpPr/>
          <p:nvPr/>
        </p:nvSpPr>
        <p:spPr>
          <a:xfrm>
            <a:off x="502920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All operations: O(1) constant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C++ STL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8412480" cy="290779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877824"/>
            <a:ext cx="8001000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stack&lt;int&gt; 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s.push(10);   s.push(20);   s.push(30);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"Top:  " &lt;&lt; s.top()  &lt;&lt; endl;  //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"Size: " &lt;&lt; s.size() &lt;&lt; endl;  // 3</a:t>
            </a:r>
            <a:endParaRPr lang="en-US" sz="9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s.pop();  // removes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"After pop: " &lt;&lt; s.top() &lt;&lt; endl; // 20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(!s.empty())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s.top() &lt;&lt; " "; s.pop();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 // Output: 20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8" name="Shape 5"/>
          <p:cNvSpPr/>
          <p:nvPr/>
        </p:nvSpPr>
        <p:spPr>
          <a:xfrm>
            <a:off x="365760" y="3840480"/>
            <a:ext cx="19202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43891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push(x)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top — O(1)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2" name="Shape 9"/>
          <p:cNvSpPr/>
          <p:nvPr/>
        </p:nvSpPr>
        <p:spPr>
          <a:xfrm>
            <a:off x="2468880" y="3840480"/>
            <a:ext cx="192024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254203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4203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top — O(1)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6" name="Shape 13"/>
          <p:cNvSpPr/>
          <p:nvPr/>
        </p:nvSpPr>
        <p:spPr>
          <a:xfrm>
            <a:off x="4572000" y="3840480"/>
            <a:ext cx="19202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464515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4515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top — O(1)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7512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6675120" y="3840480"/>
            <a:ext cx="192024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674827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4827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empty — O(1)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— FIFO Principle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3891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50292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2618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element added is the first removed — like a line at a coffee shop.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30552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365760" y="2130552"/>
            <a:ext cx="43891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0292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43230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for removal, REAR for insertion. Elements flow in one direction.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300984"/>
            <a:ext cx="4389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4" name="Shape 11"/>
          <p:cNvSpPr/>
          <p:nvPr/>
        </p:nvSpPr>
        <p:spPr>
          <a:xfrm>
            <a:off x="365760" y="3300984"/>
            <a:ext cx="43891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2"/>
          <p:cNvSpPr/>
          <p:nvPr/>
        </p:nvSpPr>
        <p:spPr>
          <a:xfrm>
            <a:off x="502920" y="3300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&lt;queue&gt;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360273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STL provides std::queue with push(), pop(), front(), and back() methods.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Queue (FIFO)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325880"/>
            <a:ext cx="3657600" cy="777240"/>
          </a:xfrm>
          <a:prstGeom prst="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Shape 16"/>
          <p:cNvSpPr/>
          <p:nvPr/>
        </p:nvSpPr>
        <p:spPr>
          <a:xfrm>
            <a:off x="5120640" y="1417320"/>
            <a:ext cx="7498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0" name="Text 17"/>
          <p:cNvSpPr/>
          <p:nvPr/>
        </p:nvSpPr>
        <p:spPr>
          <a:xfrm>
            <a:off x="5120640" y="141732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89320" y="1417320"/>
            <a:ext cx="74980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2" name="Text 19"/>
          <p:cNvSpPr/>
          <p:nvPr/>
        </p:nvSpPr>
        <p:spPr>
          <a:xfrm>
            <a:off x="5989320" y="141732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858000" y="1417320"/>
            <a:ext cx="7498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4" name="Text 21"/>
          <p:cNvSpPr/>
          <p:nvPr/>
        </p:nvSpPr>
        <p:spPr>
          <a:xfrm>
            <a:off x="6858000" y="141732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26680" y="1417320"/>
            <a:ext cx="749808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7726680" y="141732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846320" y="2176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← DEQUEUE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55280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ENQUEUE 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0" y="109728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FRONT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936992" y="109728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REAR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0" y="278892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32" name="Text 29"/>
          <p:cNvSpPr/>
          <p:nvPr/>
        </p:nvSpPr>
        <p:spPr>
          <a:xfrm>
            <a:off x="516636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</a:rPr>
              <a:t>Real-World Uses</a:t>
            </a:r>
            <a:endParaRPr lang="en-US" sz="12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200400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486400" y="3182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Print spooler &amp; job scheduling</a:t>
            </a:r>
            <a:endParaRPr lang="en-US" sz="11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547872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486400" y="3529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BFS graph traversal</a:t>
            </a:r>
            <a:endParaRPr lang="en-US" sz="115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895344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0" y="38770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Web server request handling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— C++ STL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8412480" cy="290779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877824"/>
            <a:ext cx="8001000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&lt;queue&gt;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queue&lt;string&gt; printJobs;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printJobs.push("Report.pdf");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printJobs.push("Resume.docx");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printJobs.push("Photo.png");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"Front: " &lt;&lt; printJobs.front() &lt;&lt; endl; // Report.pdf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"Back:  " &lt;&lt; printJobs.back()  &lt;&lt; endl; // Photo.png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"Size:  " &lt;&lt; printJobs.size()  &lt;&lt; endl; // 3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(!printJobs.empty())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"Printing: " &lt;&lt; printJobs.front() &lt;&lt; endl;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printJobs.pop();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8" name="Shape 5"/>
          <p:cNvSpPr/>
          <p:nvPr/>
        </p:nvSpPr>
        <p:spPr>
          <a:xfrm>
            <a:off x="365760" y="3840480"/>
            <a:ext cx="19202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43891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push(x)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at rear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2" name="Shape 9"/>
          <p:cNvSpPr/>
          <p:nvPr/>
        </p:nvSpPr>
        <p:spPr>
          <a:xfrm>
            <a:off x="2468880" y="3840480"/>
            <a:ext cx="192024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254203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4203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from front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6" name="Shape 13"/>
          <p:cNvSpPr/>
          <p:nvPr/>
        </p:nvSpPr>
        <p:spPr>
          <a:xfrm>
            <a:off x="4572000" y="3840480"/>
            <a:ext cx="1920240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464515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4515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front element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75120" y="3840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6675120" y="3840480"/>
            <a:ext cx="19202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674827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48272" y="40965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rear element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— Node-based Structure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Node Anatomy in C++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261872"/>
            <a:ext cx="192024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365760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DBFE"/>
                </a:solidFill>
              </a:rPr>
              <a:t>DATA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517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42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2286000" y="1261872"/>
            <a:ext cx="14173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2286000" y="1261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DBFE"/>
                </a:solidFill>
              </a:rPr>
              <a:t>NEXT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0" y="151790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0x3F4A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03320" y="1737360"/>
            <a:ext cx="50292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KW"/>
          </a:p>
        </p:txBody>
      </p:sp>
      <p:sp>
        <p:nvSpPr>
          <p:cNvPr id="13" name="Shape 10"/>
          <p:cNvSpPr/>
          <p:nvPr/>
        </p:nvSpPr>
        <p:spPr>
          <a:xfrm>
            <a:off x="4206240" y="1261872"/>
            <a:ext cx="1371600" cy="960120"/>
          </a:xfrm>
          <a:prstGeom prst="rect">
            <a:avLst/>
          </a:prstGeom>
          <a:solidFill>
            <a:srgbClr val="0891B2">
              <a:alpha val="45000"/>
            </a:srgbClr>
          </a:solidFill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1"/>
          <p:cNvSpPr/>
          <p:nvPr/>
        </p:nvSpPr>
        <p:spPr>
          <a:xfrm>
            <a:off x="4206240" y="1261872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Next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Node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377440"/>
            <a:ext cx="5212080" cy="86868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450592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next;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Node(int v) : data(v), next(nullptr) {} };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914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Singly Linked List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0" y="1261872"/>
            <a:ext cx="566928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Text 16"/>
          <p:cNvSpPr/>
          <p:nvPr/>
        </p:nvSpPr>
        <p:spPr>
          <a:xfrm>
            <a:off x="5669280" y="12618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36208" y="150876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W"/>
          </a:p>
        </p:txBody>
      </p:sp>
      <p:sp>
        <p:nvSpPr>
          <p:cNvPr id="21" name="Shape 18"/>
          <p:cNvSpPr/>
          <p:nvPr/>
        </p:nvSpPr>
        <p:spPr>
          <a:xfrm>
            <a:off x="6355080" y="1261872"/>
            <a:ext cx="566928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2" name="Text 19"/>
          <p:cNvSpPr/>
          <p:nvPr/>
        </p:nvSpPr>
        <p:spPr>
          <a:xfrm>
            <a:off x="6355080" y="12618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22008" y="150876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KW"/>
          </a:p>
        </p:txBody>
      </p:sp>
      <p:sp>
        <p:nvSpPr>
          <p:cNvPr id="24" name="Shape 21"/>
          <p:cNvSpPr/>
          <p:nvPr/>
        </p:nvSpPr>
        <p:spPr>
          <a:xfrm>
            <a:off x="7040880" y="1261872"/>
            <a:ext cx="566928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Text 22"/>
          <p:cNvSpPr/>
          <p:nvPr/>
        </p:nvSpPr>
        <p:spPr>
          <a:xfrm>
            <a:off x="7040880" y="12618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607808" y="150876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KW"/>
          </a:p>
        </p:txBody>
      </p:sp>
      <p:sp>
        <p:nvSpPr>
          <p:cNvPr id="27" name="Shape 24"/>
          <p:cNvSpPr/>
          <p:nvPr/>
        </p:nvSpPr>
        <p:spPr>
          <a:xfrm>
            <a:off x="7726680" y="1261872"/>
            <a:ext cx="566928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7726680" y="12618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293608" y="152704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8412480" y="1389888"/>
            <a:ext cx="502920" cy="256032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8412480" y="13898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NULL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65760" y="3383280"/>
            <a:ext cx="64008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3" name="Text 30"/>
          <p:cNvSpPr/>
          <p:nvPr/>
        </p:nvSpPr>
        <p:spPr>
          <a:xfrm>
            <a:off x="548640" y="3383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Access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" y="35844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traverse from head to find any node — O(n).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65760" y="3886200"/>
            <a:ext cx="6400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548640" y="38862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8640" y="4087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allocated with new; must delete to avoid leaks.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65760" y="4389120"/>
            <a:ext cx="64008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9" name="Text 36"/>
          <p:cNvSpPr/>
          <p:nvPr/>
        </p:nvSpPr>
        <p:spPr>
          <a:xfrm>
            <a:off x="548640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Head Insert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48640" y="45902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head is always O(1) — just update the pointer.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— C++ Implementation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8412480" cy="299923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859536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 int data; Node* next;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Node(int v) : data(v), next(nullptr) {} };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LinkedList() : head(nullptr) {}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insertFront(int val)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Node* n = new Node(val);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n-&gt;next = head;  head = 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display()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Node* curr = head;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(curr) { cout &lt;&lt; curr-&gt;data &lt;&lt; "-&gt;"; curr=curr-&gt;next;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"NULL" &lt;&lt; endl;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LinkedList list;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list.insertFront(30); list.insertFront(20); list.insertFront(10);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list.display();  // 10 -&gt; 20 -&gt; 30 -&gt; NULL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65760" y="393192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8" name="Shape 5"/>
          <p:cNvSpPr/>
          <p:nvPr/>
        </p:nvSpPr>
        <p:spPr>
          <a:xfrm>
            <a:off x="365760" y="3931920"/>
            <a:ext cx="192024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438912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insertFront()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38912" y="41879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insert O(1)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393192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2" name="Shape 9"/>
          <p:cNvSpPr/>
          <p:nvPr/>
        </p:nvSpPr>
        <p:spPr>
          <a:xfrm>
            <a:off x="2468880" y="3931920"/>
            <a:ext cx="19202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2542032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insertBack()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42032" y="41879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insert O(n)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393192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6" name="Shape 13"/>
          <p:cNvSpPr/>
          <p:nvPr/>
        </p:nvSpPr>
        <p:spPr>
          <a:xfrm>
            <a:off x="4572000" y="3931920"/>
            <a:ext cx="192024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4645152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delete(val)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45152" y="41879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remove O(n)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75120" y="393192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6675120" y="3931920"/>
            <a:ext cx="19202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6748272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48272" y="41879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O(n)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Queue vs Linked List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2148840" cy="475488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06040" y="914400"/>
            <a:ext cx="2377440" cy="4754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2697480" y="91440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74920" y="914400"/>
            <a:ext cx="1645920" cy="475488"/>
          </a:xfrm>
          <a:prstGeom prst="rect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5166360" y="9144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914400"/>
            <a:ext cx="1965960" cy="475488"/>
          </a:xfrm>
          <a:prstGeom prst="rect">
            <a:avLst/>
          </a:prstGeom>
          <a:solidFill>
            <a:srgbClr val="818CF8"/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2" name="Text 9"/>
          <p:cNvSpPr/>
          <p:nvPr/>
        </p:nvSpPr>
        <p:spPr>
          <a:xfrm>
            <a:off x="6903720" y="9144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1426464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1"/>
          <p:cNvSpPr/>
          <p:nvPr/>
        </p:nvSpPr>
        <p:spPr>
          <a:xfrm>
            <a:off x="457200" y="142646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06040" y="1426464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2697480" y="142646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1426464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5"/>
          <p:cNvSpPr/>
          <p:nvPr/>
        </p:nvSpPr>
        <p:spPr>
          <a:xfrm>
            <a:off x="5166360" y="142646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12280" y="1426464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Text 17"/>
          <p:cNvSpPr/>
          <p:nvPr/>
        </p:nvSpPr>
        <p:spPr>
          <a:xfrm>
            <a:off x="6903720" y="14264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nodes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1938528"/>
            <a:ext cx="21488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2" name="Text 19"/>
          <p:cNvSpPr/>
          <p:nvPr/>
        </p:nvSpPr>
        <p:spPr>
          <a:xfrm>
            <a:off x="457200" y="19385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Header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606040" y="1938528"/>
            <a:ext cx="2377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4" name="Text 21"/>
          <p:cNvSpPr/>
          <p:nvPr/>
        </p:nvSpPr>
        <p:spPr>
          <a:xfrm>
            <a:off x="2697480" y="193852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&lt;stack&gt;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74920" y="1938528"/>
            <a:ext cx="16459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166360" y="193852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&lt;queue&gt;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12280" y="1938528"/>
            <a:ext cx="196596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6903720" y="19385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&lt;list&gt; / custom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2450592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0" name="Text 27"/>
          <p:cNvSpPr/>
          <p:nvPr/>
        </p:nvSpPr>
        <p:spPr>
          <a:xfrm>
            <a:off x="457200" y="24505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606040" y="2450592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2" name="Text 29"/>
          <p:cNvSpPr/>
          <p:nvPr/>
        </p:nvSpPr>
        <p:spPr>
          <a:xfrm>
            <a:off x="2697480" y="245059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— O(1)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74920" y="2450592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4" name="Text 31"/>
          <p:cNvSpPr/>
          <p:nvPr/>
        </p:nvSpPr>
        <p:spPr>
          <a:xfrm>
            <a:off x="5166360" y="24505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— O(1)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812280" y="2450592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6903720" y="24505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 — O(1)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65760" y="2962656"/>
            <a:ext cx="21488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8" name="Text 35"/>
          <p:cNvSpPr/>
          <p:nvPr/>
        </p:nvSpPr>
        <p:spPr>
          <a:xfrm>
            <a:off x="457200" y="296265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606040" y="2962656"/>
            <a:ext cx="2377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0" name="Text 37"/>
          <p:cNvSpPr/>
          <p:nvPr/>
        </p:nvSpPr>
        <p:spPr>
          <a:xfrm>
            <a:off x="2697480" y="296265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— O(1)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074920" y="2962656"/>
            <a:ext cx="16459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2" name="Text 39"/>
          <p:cNvSpPr/>
          <p:nvPr/>
        </p:nvSpPr>
        <p:spPr>
          <a:xfrm>
            <a:off x="5166360" y="29626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— O(1)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12280" y="2962656"/>
            <a:ext cx="196596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4" name="Text 41"/>
          <p:cNvSpPr/>
          <p:nvPr/>
        </p:nvSpPr>
        <p:spPr>
          <a:xfrm>
            <a:off x="6903720" y="29626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O(n)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65760" y="3474720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6" name="Text 43"/>
          <p:cNvSpPr/>
          <p:nvPr/>
        </p:nvSpPr>
        <p:spPr>
          <a:xfrm>
            <a:off x="457200" y="3474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2606040" y="3474720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8" name="Text 45"/>
          <p:cNvSpPr/>
          <p:nvPr/>
        </p:nvSpPr>
        <p:spPr>
          <a:xfrm>
            <a:off x="2697480" y="34747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top() — O(1)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074920" y="3474720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0" name="Text 47"/>
          <p:cNvSpPr/>
          <p:nvPr/>
        </p:nvSpPr>
        <p:spPr>
          <a:xfrm>
            <a:off x="5166360" y="347472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front() — O(1)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812280" y="3474720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2" name="Text 49"/>
          <p:cNvSpPr/>
          <p:nvPr/>
        </p:nvSpPr>
        <p:spPr>
          <a:xfrm>
            <a:off x="6903720" y="3474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— O(n)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65760" y="3986784"/>
            <a:ext cx="21488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4" name="Text 51"/>
          <p:cNvSpPr/>
          <p:nvPr/>
        </p:nvSpPr>
        <p:spPr>
          <a:xfrm>
            <a:off x="457200" y="39867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606040" y="3986784"/>
            <a:ext cx="2377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6" name="Text 53"/>
          <p:cNvSpPr/>
          <p:nvPr/>
        </p:nvSpPr>
        <p:spPr>
          <a:xfrm>
            <a:off x="2697480" y="398678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74920" y="3986784"/>
            <a:ext cx="16459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8" name="Text 55"/>
          <p:cNvSpPr/>
          <p:nvPr/>
        </p:nvSpPr>
        <p:spPr>
          <a:xfrm>
            <a:off x="5166360" y="398678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812280" y="3986784"/>
            <a:ext cx="196596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0" name="Text 57"/>
          <p:cNvSpPr/>
          <p:nvPr/>
        </p:nvSpPr>
        <p:spPr>
          <a:xfrm>
            <a:off x="6903720" y="3986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nodes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65760" y="4498848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2" name="Text 59"/>
          <p:cNvSpPr/>
          <p:nvPr/>
        </p:nvSpPr>
        <p:spPr>
          <a:xfrm>
            <a:off x="457200" y="44988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2606040" y="449884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4" name="Text 61"/>
          <p:cNvSpPr/>
          <p:nvPr/>
        </p:nvSpPr>
        <p:spPr>
          <a:xfrm>
            <a:off x="2697480" y="44988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recursion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5074920" y="449884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6" name="Text 63"/>
          <p:cNvSpPr/>
          <p:nvPr/>
        </p:nvSpPr>
        <p:spPr>
          <a:xfrm>
            <a:off x="5166360" y="449884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BFS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6812280" y="4498848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8" name="Text 65"/>
          <p:cNvSpPr/>
          <p:nvPr/>
        </p:nvSpPr>
        <p:spPr>
          <a:xfrm>
            <a:off x="6903720" y="4498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lists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in C++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20624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6" name="Shape 3"/>
          <p:cNvSpPr/>
          <p:nvPr/>
        </p:nvSpPr>
        <p:spPr>
          <a:xfrm>
            <a:off x="475488" y="10698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47548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0698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empty stack/queue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" y="1490472"/>
            <a:ext cx="397764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566928" y="14904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s.top()  // crash if empty!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" y="2039112"/>
            <a:ext cx="3977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2" name="Text 9"/>
          <p:cNvSpPr/>
          <p:nvPr/>
        </p:nvSpPr>
        <p:spPr>
          <a:xfrm>
            <a:off x="566928" y="203911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if (!s.empty()) s.top();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960120"/>
            <a:ext cx="420624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4" name="Shape 11"/>
          <p:cNvSpPr/>
          <p:nvPr/>
        </p:nvSpPr>
        <p:spPr>
          <a:xfrm>
            <a:off x="4910328" y="10698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2"/>
          <p:cNvSpPr/>
          <p:nvPr/>
        </p:nvSpPr>
        <p:spPr>
          <a:xfrm>
            <a:off x="491032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67528" y="10698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returns void in STL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10328" y="1490472"/>
            <a:ext cx="397764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5"/>
          <p:cNvSpPr/>
          <p:nvPr/>
        </p:nvSpPr>
        <p:spPr>
          <a:xfrm>
            <a:off x="5001768" y="14904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int v = s.pop(); // ERROR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10328" y="2039112"/>
            <a:ext cx="3977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Text 17"/>
          <p:cNvSpPr/>
          <p:nvPr/>
        </p:nvSpPr>
        <p:spPr>
          <a:xfrm>
            <a:off x="5001768" y="203911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int v = s.top(); s.pop();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2926080"/>
            <a:ext cx="420624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2" name="Shape 19"/>
          <p:cNvSpPr/>
          <p:nvPr/>
        </p:nvSpPr>
        <p:spPr>
          <a:xfrm>
            <a:off x="475488" y="30358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0"/>
          <p:cNvSpPr/>
          <p:nvPr/>
        </p:nvSpPr>
        <p:spPr>
          <a:xfrm>
            <a:off x="47548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32688" y="30358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— forgetting delete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" y="3456432"/>
            <a:ext cx="397764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66928" y="345643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Node* n = new Node(5); n = nullptr;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5488" y="4005072"/>
            <a:ext cx="3977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566928" y="40050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delete n; n = nullptr;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2926080"/>
            <a:ext cx="420624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4910328" y="30358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491032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67528" y="30358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Dereferencing nullptr in linked list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10328" y="3456432"/>
            <a:ext cx="397764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4" name="Text 31"/>
          <p:cNvSpPr/>
          <p:nvPr/>
        </p:nvSpPr>
        <p:spPr>
          <a:xfrm>
            <a:off x="5001768" y="345643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while (curr-&gt;next != nullptr)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10328" y="4005072"/>
            <a:ext cx="3977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5001768" y="40050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while (curr &amp;&amp; curr-&gt;next)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6" name="Shape 3"/>
          <p:cNvSpPr/>
          <p:nvPr/>
        </p:nvSpPr>
        <p:spPr>
          <a:xfrm>
            <a:off x="475488" y="10698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47548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66160" y="105156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059669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3566160" y="1051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Easy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Parentheses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149047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stack to check if ()[]{}  are properly balanced in a string.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3" name="Shape 10"/>
          <p:cNvSpPr/>
          <p:nvPr/>
        </p:nvSpPr>
        <p:spPr>
          <a:xfrm>
            <a:off x="4773168" y="10698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1"/>
          <p:cNvSpPr/>
          <p:nvPr/>
        </p:nvSpPr>
        <p:spPr>
          <a:xfrm>
            <a:off x="477316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63840" y="105156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059669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7863840" y="1051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Easy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12080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Queue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0600" y="149047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a stack, reverse all elements in a std::queue&lt;int&gt;.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23774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75488" y="24871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7548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66160" y="246888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0"/>
          <p:cNvSpPr/>
          <p:nvPr/>
        </p:nvSpPr>
        <p:spPr>
          <a:xfrm>
            <a:off x="3566160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440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Linked List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2920" y="29077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middle node using slow/fast (tortoise and hare) pointers.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63440" y="23774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27" name="Shape 24"/>
          <p:cNvSpPr/>
          <p:nvPr/>
        </p:nvSpPr>
        <p:spPr>
          <a:xfrm>
            <a:off x="4773168" y="24871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477316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63840" y="246888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0" name="Text 27"/>
          <p:cNvSpPr/>
          <p:nvPr/>
        </p:nvSpPr>
        <p:spPr>
          <a:xfrm>
            <a:off x="7863840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1208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from 2 Queues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00600" y="29077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push() and pop() of a stack using two std::queue objects.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65760" y="3794760"/>
            <a:ext cx="84124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34" name="Shape 31"/>
          <p:cNvSpPr/>
          <p:nvPr/>
        </p:nvSpPr>
        <p:spPr>
          <a:xfrm>
            <a:off x="475488" y="39044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5" name="Text 32"/>
          <p:cNvSpPr/>
          <p:nvPr/>
        </p:nvSpPr>
        <p:spPr>
          <a:xfrm>
            <a:off x="475488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772400" y="388620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7" name="Text 34"/>
          <p:cNvSpPr/>
          <p:nvPr/>
        </p:nvSpPr>
        <p:spPr>
          <a:xfrm>
            <a:off x="7772400" y="38862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14400" y="3886200"/>
            <a:ext cx="6720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Linked List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02920" y="432511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singly linked list in-place by re-linking all node pointers.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3856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789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uses LIFO — push() adds to top, pop() removes from top, top() peeks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104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uses FIFO — push() enqueues at rear, pop() dequeues from front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6352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7614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empty() before top() or front() to avoid undefined behavior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602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in C++ STL returns void — read with top()/front() first, then pop()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133856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03520" y="10789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nodes use new/delete — always pair them to avoid memory leaks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75104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0352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nullptr checks before dereferencing any Node pointer in traversal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16352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03520" y="27614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head insert is O(1); search and tail insert are O(n)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657600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03520" y="3602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std::stack and std::queue are ready-to-use in C++ — prefer them over custom code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3A8A">
              <a:alpha val="15000"/>
            </a:srgbClr>
          </a:solidFill>
          <a:ln w="12700">
            <a:solidFill>
              <a:srgbClr val="1E3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Code It!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exercises — then try building your own STL-free implementations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86000" y="3749040"/>
            <a:ext cx="4572000" cy="685800"/>
          </a:xfrm>
          <a:prstGeom prst="roundRect">
            <a:avLst>
              <a:gd name="adj" fmla="val 2666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2286000" y="3749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Next: Lecture 2 → Trees &amp; Binary Search Trees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1471</Words>
  <Application>Microsoft Macintosh PowerPoint</Application>
  <PresentationFormat>On-screen Show (16:9)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Data Structures in C++</dc:title>
  <dc:subject>PptxGenJS Presentation</dc:subject>
  <dc:creator>C++ Course</dc:creator>
  <cp:lastModifiedBy>Fawaz Alazemi</cp:lastModifiedBy>
  <cp:revision>2</cp:revision>
  <dcterms:created xsi:type="dcterms:W3CDTF">2026-05-06T08:16:44Z</dcterms:created>
  <dcterms:modified xsi:type="dcterms:W3CDTF">2026-05-06T09:27:42Z</dcterms:modified>
</cp:coreProperties>
</file>