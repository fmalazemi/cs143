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72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1F5F9"/>
                </a:solidFill>
              </a:rPr>
              <a:t>Lecture 11: Recursion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What is Recursion?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A function that calls itself to solve a problem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Real-World Analogies: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3172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33172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Mirrors facing each other - infinite reflections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5176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65176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Russian nesting dolls - smaller dolls inside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71800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297180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Searching folders - open each folder recursively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57200" y="3474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Key Concept: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57200" y="3749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Break complex problem → smaller versions → simple base case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Simple Countdown Example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2"/>
          <p:cNvSpPr/>
          <p:nvPr/>
        </p:nvSpPr>
        <p:spPr>
          <a:xfrm>
            <a:off x="914400" y="1234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countdown(int n)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0)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"Blastoff!";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  // Base case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n &lt;&lt; endl;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countdown(n - 1);  // Recursive call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How it works: countdown(3)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countdown(3) → prints 3, calls countdown(2)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countdown(2) → prints 2, calls countdown(1)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countdown(1) → prints 1, calls countdown(0)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7490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countdown(0) → prints "Blastoff!", returns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Anatomy of Recursive Function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Every recursive function needs TWO parts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1. Base Case (Stopping Condition)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 == 0)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  // Stop recursion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2. Recursive Case (Self-Call)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 + sum(n - 1);  // Call with smaller n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9776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Without base case → Infinite recursion → Stack overflow!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Classic Example: Factorial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4225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Definition: n! = n × (n-1) × (n-2) × ... × 2 ×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528" y="1481400"/>
            <a:ext cx="7700447" cy="144018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914400" y="1748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factorial(int n)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Base case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0 || n == 1)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Recursive case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factorial(n - 1);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050495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Trace: factorial(5)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324815"/>
            <a:ext cx="7315200" cy="9144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1097280" y="34544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 * factorial(4)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 * (4 * factorial(3))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 * (4 * (3 * factorial(2)))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 * (4 * (3 * (2 * 1)))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 * (4 * (3 * 2)) = 5 * 24 = 120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Fibonacci Sequence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09705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Sequence: 0, 1, 1, 2, 3, 5, 8, 13, 21, 34, ...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73964"/>
            <a:ext cx="7680960" cy="1603945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914400" y="1831045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fibonacci(int n)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Base cases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0) return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1) return 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Recursive case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fibonacci(n-1) + fibonacci(n-2);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36079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</a:rPr>
              <a:t>Two recursive calls - branches like a tree!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72655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fibonacci(5) = fibonacci(4) + fibonacci(3)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More Recursion Examples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Power Function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17520" y="13533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x * power(x, n-1);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13533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x^n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640080" y="194767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Sum of Array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9476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arr[0] + sum(arr+1, size-1);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1947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Array elements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2" name="Text 10"/>
          <p:cNvSpPr/>
          <p:nvPr/>
        </p:nvSpPr>
        <p:spPr>
          <a:xfrm>
            <a:off x="640080" y="2542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GCD (Euclidean)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5420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gcd(b, a % b);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2542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Greatest common divisor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4"/>
          <p:cNvSpPr/>
          <p:nvPr/>
        </p:nvSpPr>
        <p:spPr>
          <a:xfrm>
            <a:off x="640080" y="31363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Reverse String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1363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last_char + reverse(rest);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1363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String reversal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0" name="Text 18"/>
          <p:cNvSpPr/>
          <p:nvPr/>
        </p:nvSpPr>
        <p:spPr>
          <a:xfrm>
            <a:off x="640080" y="37307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Binary Search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37307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search(arr, left, mid-1, x);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3730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Divide and conquer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A"/>
                </a:solidFill>
              </a:rPr>
              <a:t>Recursion vs Iteration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22860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Recursion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Iteration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Code clarity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Often simpler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Can be verbose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Memory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More (call stack)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Less memory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Performance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Slower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Faster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Stack overflow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Possible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 risk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Best for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Trees, graphs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Simple loops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3931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Choose recursion for natural recursive problems, iteration for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Common Mistakes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Shape 2"/>
          <p:cNvSpPr/>
          <p:nvPr/>
        </p:nvSpPr>
        <p:spPr>
          <a:xfrm>
            <a:off x="594360" y="13716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59436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35331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</a:rPr>
              <a:t>❌ No base case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157276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</a:rPr>
              <a:t>✓  Always include base case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594360" y="19659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59436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194767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</a:rPr>
              <a:t>❌ Base never reached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216712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</a:rPr>
              <a:t>✓  Ensure parameters change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Shape 12"/>
          <p:cNvSpPr/>
          <p:nvPr/>
        </p:nvSpPr>
        <p:spPr>
          <a:xfrm>
            <a:off x="594360" y="25603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59436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254203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</a:rPr>
              <a:t>❌ Wrong base value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05840" y="276148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</a:rPr>
              <a:t>✓  Check: factorial(0) = 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0" name="Shape 17"/>
          <p:cNvSpPr/>
          <p:nvPr/>
        </p:nvSpPr>
        <p:spPr>
          <a:xfrm>
            <a:off x="594360" y="31546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59436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05840" y="313639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</a:rPr>
              <a:t>❌ No negative handling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5840" y="335584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</a:rPr>
              <a:t>✓  Validate input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5" name="Shape 22"/>
          <p:cNvSpPr/>
          <p:nvPr/>
        </p:nvSpPr>
        <p:spPr>
          <a:xfrm>
            <a:off x="594360" y="37490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6" name="Text 23"/>
          <p:cNvSpPr/>
          <p:nvPr/>
        </p:nvSpPr>
        <p:spPr>
          <a:xfrm>
            <a:off x="59436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05840" y="3730752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</a:rPr>
              <a:t>❌ Inefficient recursion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3950208"/>
            <a:ext cx="722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</a:rPr>
              <a:t>✓  Consider iteration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</a:rPr>
              <a:t>Practice Exercises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463040"/>
            <a:ext cx="4023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157276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Print Reverse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184708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Print n down to 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463040"/>
            <a:ext cx="4023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0" name="Shape 7"/>
          <p:cNvSpPr/>
          <p:nvPr/>
        </p:nvSpPr>
        <p:spPr>
          <a:xfrm>
            <a:off x="4892040" y="164592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8"/>
          <p:cNvSpPr/>
          <p:nvPr/>
        </p:nvSpPr>
        <p:spPr>
          <a:xfrm>
            <a:off x="48920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03520" y="157276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Count Digits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03520" y="184708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Count digits in number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240280"/>
            <a:ext cx="4023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5" name="Shape 12"/>
          <p:cNvSpPr/>
          <p:nvPr/>
        </p:nvSpPr>
        <p:spPr>
          <a:xfrm>
            <a:off x="548640" y="2423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3"/>
          <p:cNvSpPr/>
          <p:nvPr/>
        </p:nvSpPr>
        <p:spPr>
          <a:xfrm>
            <a:off x="54864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3500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Sum of Digits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" y="262432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Add all digits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00600" y="2240280"/>
            <a:ext cx="4023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0" name="Shape 17"/>
          <p:cNvSpPr/>
          <p:nvPr/>
        </p:nvSpPr>
        <p:spPr>
          <a:xfrm>
            <a:off x="4892040" y="2423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1" name="Text 18"/>
          <p:cNvSpPr/>
          <p:nvPr/>
        </p:nvSpPr>
        <p:spPr>
          <a:xfrm>
            <a:off x="489204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23500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Is Palindrome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03520" y="262432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Check palindrome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560320" y="3017520"/>
            <a:ext cx="40233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5" name="Shape 22"/>
          <p:cNvSpPr/>
          <p:nvPr/>
        </p:nvSpPr>
        <p:spPr>
          <a:xfrm>
            <a:off x="2651760" y="32004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6" name="Text 23"/>
          <p:cNvSpPr/>
          <p:nvPr/>
        </p:nvSpPr>
        <p:spPr>
          <a:xfrm>
            <a:off x="265176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063240" y="312724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Tower of Hanoi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063240" y="340156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Classic puzzle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Concepts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55448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55448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Recursion = Function calling itself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920240"/>
            <a:ext cx="201168" cy="201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192024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Base case = Stopping condition (essential!)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286000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3040" y="228600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Recursive case = Self-call with smaller problem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651760"/>
            <a:ext cx="201168" cy="2011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63040" y="265176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Call stack stores each function call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017520"/>
            <a:ext cx="201168" cy="2011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63040" y="301752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</a:rPr>
              <a:t>Consider iteration for simple loops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Practice recursive thinking!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Master Recursion!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1F5F9"/>
                </a:solidFill>
              </a:rPr>
              <a:t>A powerful problem-solving technique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731</Words>
  <Application>Microsoft Macintosh PowerPoint</Application>
  <PresentationFormat>On-screen Show (16:9)</PresentationFormat>
  <Paragraphs>150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Recursion</dc:title>
  <dc:subject>PptxGenJS Presentation</dc:subject>
  <dc:creator>C++ Course</dc:creator>
  <cp:lastModifiedBy>Fawaz Alazemi</cp:lastModifiedBy>
  <cp:revision>2</cp:revision>
  <dcterms:created xsi:type="dcterms:W3CDTF">2026-02-14T18:16:12Z</dcterms:created>
  <dcterms:modified xsi:type="dcterms:W3CDTF">2026-02-14T18:23:46Z</dcterms:modified>
</cp:coreProperties>
</file>