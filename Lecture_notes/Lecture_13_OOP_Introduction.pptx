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Object-Oriented Programming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 University  |  CS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OOP?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1430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 organizes software around objects — self-contained units that bundle data and behavior.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real-world entities directly in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combine data (attributes) and actions (methods)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'things' and their interactions, not just sequences of instructions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modern software development (Java, C++, Python, C#)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Pillars of 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&amp; methods,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details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188720"/>
            <a:ext cx="19659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essential features,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complexity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196596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classes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188720"/>
            <a:ext cx="196596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5146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behaviors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focuses on Encapsulation — the foundation of OOP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Class?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1430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user-defined data type that serves as a blueprint for creating objects.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class defines: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members (attributes) — what the object knows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functions (methods) — what the object can 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210312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NOT an object.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template from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objects are created.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Class = Blueprint,  Object = Building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Blueprint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8016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32004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Blueprint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layout, dimensions,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room structure.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house itself.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4904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72000" y="109728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1097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23774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brick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bedrooms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828800"/>
            <a:ext cx="1097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23774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wood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bedrooms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080" y="1828800"/>
            <a:ext cx="1097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23774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stone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bedrooms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blueprint, different buildings — each independent with unique properties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Cookie Cutter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Cutter = Class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shape.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cookie itself.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— cut many cookies from one cutter.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Cookies = Objects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decorations.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cookie is independent.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attribute values.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93192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cutter (class) is defined once, but you can make unlimited cookies (objects) from it, each with its own unique properties.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Blank Form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Form (Class)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 _______________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   _______________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_______________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GPA:   _______________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Filled Forms (Objects)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s1: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"Alice"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  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"alice@univ.edu"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GPA:   3.85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926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s2: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"Bob"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   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"bob@univ.edu"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GPA:   3.50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defines WHAT data is needed — each filled form holds ACTUAL data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vs Object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/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instance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actual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memory allocated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allocated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many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s1, s2, 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Class in C++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887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                  // Access specifier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         // Data member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               // Data member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introduce() {     // Member function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"Hi, I'm " &lt;&lt; name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", age " &lt;&lt; age &lt;&lt; endl;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// &lt;-- Don't forget the semicolon!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852160" y="128016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keyword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164592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specifier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103120"/>
            <a:ext cx="54864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members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(attributes)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2834640"/>
            <a:ext cx="54864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function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356616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semicolon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Objects from a Class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5029200" cy="2926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s1;           // Create object s1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s1.name = "Alice";    // Set attributes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s1.age = 20;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s1.introduce();       // Call method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s2;           // Another object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s2.name = "Bob";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s2.age = 22;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s2.introduce();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8521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71600"/>
            <a:ext cx="2926080" cy="9144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I'm Alice, age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I'm Bob, age 22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 its own copy of data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508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independent of each other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4747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50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dot (.) operator to access members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Object-Oriented Programming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Encapsulation?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155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Bundling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(attributes) and the methods that operate on that data into a single unit — the class.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1155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Data Hiding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direct access to internal state. External code interacts only through the public interface (methods).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short: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methods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Controlled access to object's internal state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Medicine Capsule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463040" y="1463040"/>
            <a:ext cx="2194560" cy="2194560"/>
          </a:xfrm>
          <a:prstGeom prst="ellipse">
            <a:avLst/>
          </a:prstGeom>
          <a:solidFill>
            <a:srgbClr val="0891B2">
              <a:alpha val="2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20240" y="1920240"/>
            <a:ext cx="1280160" cy="128016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92024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Shell (class boundary)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relates to OOP: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= Class boundary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internal 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5603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= Private data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from direct access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2918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pill = Public method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834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interact through a controlled interface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40233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mix chemicals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capsule ensures correct dosage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Car Dashboard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155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Interface (Dashboard)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wheel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&amp; brake pedals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 display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signals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shift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1155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Internals (Engine)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7373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combustion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injection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gears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control unit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drive without knowing engine internals. If the engine changes, your driving stays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Metaphor: The ATM Machine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 = Encapsulated Object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money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between accounts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vault directly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database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the PIN check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to C++: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+ PIN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 Public methods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Database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 Private data members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 Setter with validation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 Getter method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Specifiers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Specifier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Access Level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Description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from any part of the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private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class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from all outside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protected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+ subclasses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with inheritance (later)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108960"/>
            <a:ext cx="5029200" cy="18288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       // Hidden from outside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pin;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       // Open to all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ownerName;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deposit(double amount);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getBalance();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852160" y="3383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access in class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private (unlike struct)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Data Members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private prevents external code from directly modifying internal state.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3200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5448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Temperature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celsius;        // Hidden!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setCelsius(double c)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 &gt;= -273.15)  // Validation!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celsius = c;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"Below absolute zero!" &lt;&lt; endl;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getCelsius() { return celsius;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getFahrenheit()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(celsius * 9.0/5.0) + 32;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2560320" cy="109728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874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temp.setCelsius(100);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Celsius: 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Fahrenheit: 212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temp.setCelsius(-300);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Below absolute zero!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00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data is rejected!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Getter &amp; Setter Methods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73152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Getter (Accessor)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private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copy — original stays safe.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3383280" cy="5943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57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getName()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Setter (Mutator)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834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private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before storing.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1965960"/>
            <a:ext cx="3383280" cy="5943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2"/>
          <p:cNvSpPr/>
          <p:nvPr/>
        </p:nvSpPr>
        <p:spPr>
          <a:xfrm>
            <a:off x="5166360" y="2057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setAge(int a)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 &gt; 0 &amp;&amp; a &lt; 150)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 = a;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2880360"/>
            <a:ext cx="8046720" cy="20116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9718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int age;  double gpa;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setName(string n) { if (!n.empty()) name = n;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setAge(int a) { if (a &gt; 0 &amp;&amp; a &lt; 150) age = a;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setGPA(double g) { if (g &gt;= 0 &amp;&amp; g &lt;= 4) gpa = g;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getName() { return name;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getAge() { return age;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getGPA() { return gpa;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 with Validation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303520" cy="3657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owner;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BankAccount(string name, double init)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owner = 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= (init &gt;= 0) ? init : 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deposit(double amt)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(amt &gt; 0) { balance += amt; return true;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  // Reject invalid amount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withdraw(double amt)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(amt &gt; 0 &amp;&amp; amt &lt;= balance)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balance -= amt; return true;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  // Insufficient funds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getBalance() { return balance;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&amp; Output: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2743200" cy="2286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716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 a("Alice", 1000);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a.deposit(500);  //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a.withdraw(200); //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a.withdraw(5000);// REJECTED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balance = 1300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Can't 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a.balance = 999999;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^ ERROR: private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794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can never go negative!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160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access to balance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Encapsulation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or malicious modification of internal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18653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216712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can check and reject invalid values before storing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59689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68833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26151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Flexibility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71600" y="291693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implementation can change without affecting external code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3364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Easier Debugging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371600" y="366674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changes go through methods — easy to trace and log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Modularity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71600" y="441655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is a self-contained, independent unit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vs With Encapsulation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326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Encapsulation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926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StudentBad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            // Everything public!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gpa;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StudentBad s;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s.age = -5;      // Accepted!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s.gpa = 99.9;    // Accepted!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 protection at all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9326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Encapsulation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926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StudentGood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            // Data hidden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gpa;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setAge(int a)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 &gt; 0 &amp;&amp; a &lt; 150) age = a;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cout &lt;&lt; "Invalid!" &lt;&lt; endl;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setGPA(double g)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(g &gt;= 0 &amp;&amp; g &lt;= 4) gpa = g;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cout &lt;&lt; "Invalid!" &lt;&lt; endl;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(1/2)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1005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semicolon after class 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1417320"/>
            <a:ext cx="347472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MyClass { ... }    // Missing ;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03520" y="1417320"/>
            <a:ext cx="347472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MyClass { ... };   // Required!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all data members public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71600" y="2743200"/>
            <a:ext cx="347472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146304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 { public: double balance; };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303520" y="2743200"/>
            <a:ext cx="347472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8"/>
          <p:cNvSpPr/>
          <p:nvPr/>
        </p:nvSpPr>
        <p:spPr>
          <a:xfrm>
            <a:off x="539496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 { private: double balance; };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97280" y="3657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access in class is private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371600" y="4069080"/>
            <a:ext cx="347472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7" name="Text 24"/>
          <p:cNvSpPr/>
          <p:nvPr/>
        </p:nvSpPr>
        <p:spPr>
          <a:xfrm>
            <a:off x="146304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X { int n; }; // n is private!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2920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303520" y="4069080"/>
            <a:ext cx="347472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X { public: int n; }; // explicit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(2/2)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1005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private members from outside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1463040"/>
            <a:ext cx="740664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 = 20;   // Error: age is private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1874520"/>
            <a:ext cx="740664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1463040" y="18745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s.setAge(20); // Use setter method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2468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without validation (defeats the purpose!)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71600" y="2926080"/>
            <a:ext cx="740664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1463040" y="29260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setAge(int a) { age = a; } // No check!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" y="3337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371600" y="3337560"/>
            <a:ext cx="740664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8"/>
          <p:cNvSpPr/>
          <p:nvPr/>
        </p:nvSpPr>
        <p:spPr>
          <a:xfrm>
            <a:off x="1463040" y="33375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setAge(int a) { if(a&gt;0) age=a; } // Validates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39319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 setter without validation is no better than making the data public!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Exercises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Rectangle Class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463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width/height, setters with validation, area() &amp; perimeter()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377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Manager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password with min 8 chars, checkPassword() method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3611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Book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3931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grades array (0-100), getAverage() &amp; getHighest()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846320" y="10058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8348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9834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321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Class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32120" y="1463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h/m/s with range validation, display as HH:MM:SS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4632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83480" y="2377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49834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321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Item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3212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qty/price, restock() &amp; sell() with stock check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organizes code around objects that bundle data and behavior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is an instance of that class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011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= bundling data + methods + restricting access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2468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specifiers: public, private, protected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2926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make data members private by default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2900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1560" y="33832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getters (read) and setters (write with validation)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886200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51560" y="3840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setters prevents invalid data from entering</a:t>
            </a:r>
            <a:endParaRPr lang="en-US" sz="14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43400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5156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enables data protection, flexibility, and modularity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Practicing!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Constructors &amp; Destructors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 University  |  CS Department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Object-Oriented Programming</dc:title>
  <dc:subject>PptxGenJS Presentation</dc:subject>
  <dc:creator>ERW University — CS Department</dc:creator>
  <cp:lastModifiedBy>ERW University — CS Department</cp:lastModifiedBy>
  <cp:revision>1</cp:revision>
  <dcterms:created xsi:type="dcterms:W3CDTF">2026-04-08T07:50:50Z</dcterms:created>
  <dcterms:modified xsi:type="dcterms:W3CDTF">2026-04-08T07:50:50Z</dcterms:modified>
</cp:coreProperties>
</file>