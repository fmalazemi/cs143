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51873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137160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4688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</a:rPr>
              <a:t>C++ Programming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914400" y="3108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1F5F9"/>
                </a:solidFill>
              </a:rPr>
              <a:t>Lecture 5: Advanced Loops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8A"/>
                </a:solidFill>
              </a:rPr>
              <a:t>What We Will Learn Today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37160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37360" y="137160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</a:rPr>
              <a:t>Nested loops (loops inside loops)</a:t>
            </a:r>
            <a:endParaRPr lang="en-US" sz="20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920240"/>
            <a:ext cx="274320" cy="2743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737360" y="192024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</a:rPr>
              <a:t>The do-while loop</a:t>
            </a:r>
            <a:endParaRPr lang="en-US" sz="20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468880"/>
            <a:ext cx="274320" cy="27432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737360" y="246888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</a:rPr>
              <a:t>Loop control statements (break and continue)</a:t>
            </a:r>
            <a:endParaRPr lang="en-US" sz="20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3017520"/>
            <a:ext cx="274320" cy="27432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737360" y="301752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</a:rPr>
              <a:t>Advanced loop patterns</a:t>
            </a:r>
            <a:endParaRPr lang="en-US" sz="20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840480"/>
            <a:ext cx="274320" cy="27432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005840" y="3886200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891B2"/>
                </a:solidFill>
              </a:rPr>
              <a:t>These techniques give you powerful control over program flow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576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4572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8A"/>
                </a:solidFill>
              </a:rPr>
              <a:t>What Are Nested Loops?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solidFill>
            <a:srgbClr val="0891B2">
              <a:alpha val="90000"/>
            </a:srgbClr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5" name="Text 2"/>
          <p:cNvSpPr/>
          <p:nvPr/>
        </p:nvSpPr>
        <p:spPr>
          <a:xfrm>
            <a:off x="640080" y="13258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93B"/>
                </a:solidFill>
              </a:rPr>
              <a:t>A loop inside another loop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57200" y="1920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91B2"/>
                </a:solidFill>
              </a:rPr>
              <a:t>Structure: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1169233" y="2194560"/>
            <a:ext cx="6603167" cy="1188720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8" name="Text 5"/>
          <p:cNvSpPr/>
          <p:nvPr/>
        </p:nvSpPr>
        <p:spPr>
          <a:xfrm>
            <a:off x="1554480" y="2423160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(outer loop) 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(inner loop) 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400" dirty="0">
                <a:solidFill>
                  <a:srgbClr val="5C63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Runs for every combination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3383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8A"/>
                </a:solidFill>
              </a:rPr>
              <a:t>How It Works: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14400" y="374904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1. Outer loop runs once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14400" y="397764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2. Inner loop runs completely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914400" y="420624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3. Outer loop runs again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914400" y="443484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4. Inner loop runs completely again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914400" y="466344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5. Continues until outer loop finishes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8A"/>
                </a:solidFill>
              </a:rPr>
              <a:t>Nested Loop Example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7680960" cy="1371600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4" name="Text 2"/>
          <p:cNvSpPr/>
          <p:nvPr/>
        </p:nvSpPr>
        <p:spPr>
          <a:xfrm>
            <a:off x="914400" y="123444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12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 = </a:t>
            </a:r>
            <a:r>
              <a:rPr lang="en-US" sz="12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i &lt;= </a:t>
            </a:r>
            <a:r>
              <a:rPr lang="en-US" sz="12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i++)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12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j = </a:t>
            </a:r>
            <a:r>
              <a:rPr lang="en-US" sz="12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j &lt;= </a:t>
            </a:r>
            <a:r>
              <a:rPr lang="en-US" sz="12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j++)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cout &lt;&lt; </a:t>
            </a:r>
            <a:r>
              <a:rPr lang="en-US" sz="12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"i="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&lt;&lt; i &lt;&lt; </a:t>
            </a:r>
            <a:r>
              <a:rPr lang="en-US" sz="12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j="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&lt;&lt; j &lt;&lt; endl;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8A"/>
                </a:solidFill>
              </a:rPr>
              <a:t>Output: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286000" y="2651760"/>
            <a:ext cx="5943600" cy="1828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7" name="Text 5"/>
          <p:cNvSpPr/>
          <p:nvPr/>
        </p:nvSpPr>
        <p:spPr>
          <a:xfrm>
            <a:off x="2468880" y="2834640"/>
            <a:ext cx="5577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i=1 j=1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i=1 j=2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i=2 j=1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i=2 j=2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i=3 j=1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i=3 j=2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8A"/>
                </a:solidFill>
              </a:rPr>
              <a:t>Nested Loop Patterns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</a:rPr>
              <a:t>Rectangle (5x8):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023360" cy="11887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* * * * * * *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* * * * * * *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* * * * * * *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* * * * * * *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* * * * * * *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663440" y="118872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</a:rPr>
              <a:t>Right Triangle: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463040"/>
            <a:ext cx="4023360" cy="11887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8" name="Text 6"/>
          <p:cNvSpPr/>
          <p:nvPr/>
        </p:nvSpPr>
        <p:spPr>
          <a:xfrm>
            <a:off x="4846320" y="155448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*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* *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* * *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* * * *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83464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</a:rPr>
              <a:t>Inverted Triangle: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108960"/>
            <a:ext cx="4023360" cy="11887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11" name="Text 9"/>
          <p:cNvSpPr/>
          <p:nvPr/>
        </p:nvSpPr>
        <p:spPr>
          <a:xfrm>
            <a:off x="640080" y="320040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* * * *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* * *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* *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*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63440" y="283464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</a:rPr>
              <a:t>Number Pattern: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63440" y="3108960"/>
            <a:ext cx="4023360" cy="11887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14" name="Text 12"/>
          <p:cNvSpPr/>
          <p:nvPr/>
        </p:nvSpPr>
        <p:spPr>
          <a:xfrm>
            <a:off x="4846320" y="320040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1 2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1 2 3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1 2 3 4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1 2 3 4 5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576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4572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8A"/>
                </a:solidFill>
              </a:rPr>
              <a:t>The do-while Loop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solidFill>
            <a:srgbClr val="F59E0B">
              <a:alpha val="90000"/>
            </a:srgbClr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5" name="Text 2"/>
          <p:cNvSpPr/>
          <p:nvPr/>
        </p:nvSpPr>
        <p:spPr>
          <a:xfrm>
            <a:off x="640080" y="13716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93B"/>
                </a:solidFill>
              </a:rPr>
              <a:t>Executes at least once, condition checked at end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57200" y="2011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891B2"/>
                </a:solidFill>
              </a:rPr>
              <a:t>Syntax: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1828800" y="2377440"/>
            <a:ext cx="5486400" cy="731520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8" name="Text 5"/>
          <p:cNvSpPr/>
          <p:nvPr/>
        </p:nvSpPr>
        <p:spPr>
          <a:xfrm>
            <a:off x="2011680" y="251460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</a:t>
            </a: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500" dirty="0">
                <a:solidFill>
                  <a:srgbClr val="5C63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Code to execute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</a:t>
            </a:r>
            <a:r>
              <a:rPr lang="en-US" sz="15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(condition);</a:t>
            </a:r>
            <a:endParaRPr lang="en-US" sz="15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291840"/>
            <a:ext cx="228600" cy="228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14400" y="333756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</a:rPr>
              <a:t>Important: Notice the semicolon after the condition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57200" y="3749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8A"/>
                </a:solidFill>
              </a:rPr>
              <a:t>Key Difference from while: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457200" y="402336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E293B"/>
                </a:solidFill>
              </a:rPr>
              <a:t>do-while always executes at least once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57200" y="425196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E293B"/>
                </a:solidFill>
              </a:rPr>
              <a:t>while might not execute at all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8A"/>
                </a:solidFill>
              </a:rPr>
              <a:t>do-while vs while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91B2"/>
                </a:solidFill>
              </a:rPr>
              <a:t>while loop (may not execute):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914400" y="1554480"/>
            <a:ext cx="7315200" cy="822960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5" name="Text 3"/>
          <p:cNvSpPr/>
          <p:nvPr/>
        </p:nvSpPr>
        <p:spPr>
          <a:xfrm>
            <a:off x="1097280" y="169164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x = </a:t>
            </a:r>
            <a:r>
              <a:rPr lang="en-US" sz="12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(x &lt; </a:t>
            </a:r>
            <a:r>
              <a:rPr lang="en-US" sz="12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</a:t>
            </a:r>
            <a:r>
              <a:rPr lang="en-US" sz="12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"This will not print"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 </a:t>
            </a:r>
            <a:r>
              <a:rPr lang="en-US" sz="1200" dirty="0">
                <a:solidFill>
                  <a:srgbClr val="5C63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Loop body never executes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91B2"/>
                </a:solidFill>
              </a:rPr>
              <a:t>do-while loop (executes once):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2926080"/>
            <a:ext cx="7315200" cy="914400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8" name="Text 6"/>
          <p:cNvSpPr/>
          <p:nvPr/>
        </p:nvSpPr>
        <p:spPr>
          <a:xfrm>
            <a:off x="1097280" y="3063240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y = </a:t>
            </a:r>
            <a:r>
              <a:rPr lang="en-US" sz="12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</a:t>
            </a:r>
            <a:r>
              <a:rPr lang="en-US" sz="12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"This will print once"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</a:t>
            </a:r>
            <a:r>
              <a:rPr lang="en-US" sz="12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(y &lt; </a:t>
            </a:r>
            <a:r>
              <a:rPr lang="en-US" sz="12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 </a:t>
            </a:r>
            <a:r>
              <a:rPr lang="en-US" sz="1200" dirty="0">
                <a:solidFill>
                  <a:srgbClr val="5C63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Executes once, then stops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solidFill>
            <a:srgbClr val="0891B2">
              <a:alpha val="90000"/>
            </a:srgbClr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10" name="Text 8"/>
          <p:cNvSpPr/>
          <p:nvPr/>
        </p:nvSpPr>
        <p:spPr>
          <a:xfrm>
            <a:off x="640080" y="425196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</a:rPr>
              <a:t>Use do-while when you need guaranteed first execution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576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4572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8A"/>
                </a:solidFill>
              </a:rPr>
              <a:t>do-while Example: Menu System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731520" y="1188720"/>
            <a:ext cx="7680960" cy="2926080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5" name="Text 2"/>
          <p:cNvSpPr/>
          <p:nvPr/>
        </p:nvSpPr>
        <p:spPr>
          <a:xfrm>
            <a:off x="914400" y="1325880"/>
            <a:ext cx="73152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choice;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</a:t>
            </a:r>
            <a:r>
              <a:rPr lang="en-US" sz="11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"1. Option A"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&lt;&lt; endl;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</a:t>
            </a:r>
            <a:r>
              <a:rPr lang="en-US" sz="11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"2. Option B"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&lt;&lt; endl;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</a:t>
            </a:r>
            <a:r>
              <a:rPr lang="en-US" sz="11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"3. Exit"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&lt;&lt; endl;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cin &gt;&gt; choice;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(choice == </a:t>
            </a:r>
            <a:r>
              <a:rPr lang="en-US" sz="11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cout &lt;&lt; </a:t>
            </a:r>
            <a:r>
              <a:rPr lang="en-US" sz="11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"Selected A"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 if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(choice == </a:t>
            </a:r>
            <a:r>
              <a:rPr lang="en-US" sz="11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cout &lt;&lt; </a:t>
            </a:r>
            <a:r>
              <a:rPr lang="en-US" sz="11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"Selected B"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</a:t>
            </a:r>
            <a:r>
              <a:rPr lang="en-US" sz="11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(choice != </a:t>
            </a:r>
            <a:r>
              <a:rPr lang="en-US" sz="11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429768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64748B"/>
                </a:solidFill>
              </a:rPr>
              <a:t>Menu always shows at least once, keeps running until exit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576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4572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8A"/>
                </a:solidFill>
              </a:rPr>
              <a:t>The break Statement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solidFill>
            <a:srgbClr val="F59E0B">
              <a:alpha val="90000"/>
            </a:srgbClr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5" name="Text 2"/>
          <p:cNvSpPr/>
          <p:nvPr/>
        </p:nvSpPr>
        <p:spPr>
          <a:xfrm>
            <a:off x="640080" y="13258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</a:rPr>
              <a:t>Immediately exits the loop, regardless of condition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57200" y="1920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891B2"/>
                </a:solidFill>
              </a:rPr>
              <a:t>Syntax: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1379094" y="1986197"/>
            <a:ext cx="6378315" cy="1397083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8" name="Text 5"/>
          <p:cNvSpPr/>
          <p:nvPr/>
        </p:nvSpPr>
        <p:spPr>
          <a:xfrm>
            <a:off x="1554480" y="2423160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(condition) 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(some_condition) 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break;  </a:t>
            </a:r>
            <a:r>
              <a:rPr lang="en-US" sz="1400" dirty="0">
                <a:solidFill>
                  <a:srgbClr val="5C63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Exit loop immediately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3383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8A"/>
                </a:solidFill>
              </a:rPr>
              <a:t>When to Use break:</a:t>
            </a:r>
            <a:endParaRPr lang="en-US" sz="18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749040"/>
            <a:ext cx="182880" cy="1828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88720" y="3749040"/>
            <a:ext cx="7040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Exit loop early when condition is met</a:t>
            </a:r>
            <a:endParaRPr lang="en-US" sz="14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023360"/>
            <a:ext cx="182880" cy="1828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88720" y="4023360"/>
            <a:ext cx="7040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Search loops (stop when item is found)</a:t>
            </a:r>
            <a:endParaRPr lang="en-US" sz="14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297680"/>
            <a:ext cx="182880" cy="18288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188720" y="4297680"/>
            <a:ext cx="7040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Error handling (exit on invalid input)</a:t>
            </a:r>
            <a:endParaRPr lang="en-US" sz="14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572000"/>
            <a:ext cx="182880" cy="18288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188720" y="4572000"/>
            <a:ext cx="7040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Escape infinite loops with specific condition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576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4572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8A"/>
                </a:solidFill>
              </a:rPr>
              <a:t>break Example: Search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731520" y="1188720"/>
            <a:ext cx="7680960" cy="2103120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5" name="Text 2"/>
          <p:cNvSpPr/>
          <p:nvPr/>
        </p:nvSpPr>
        <p:spPr>
          <a:xfrm>
            <a:off x="914400" y="132588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numbers[] = {</a:t>
            </a:r>
            <a:r>
              <a:rPr lang="en-US" sz="11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5, 12, 7, 23, 9, 15, 3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target = </a:t>
            </a:r>
            <a:r>
              <a:rPr lang="en-US" sz="11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found = </a:t>
            </a:r>
            <a:r>
              <a:rPr lang="en-US" sz="11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11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 = </a:t>
            </a:r>
            <a:r>
              <a:rPr lang="en-US" sz="11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i &lt; </a:t>
            </a:r>
            <a:r>
              <a:rPr lang="en-US" sz="11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i++)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(numbers[i] == target)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cout &lt;&lt; </a:t>
            </a:r>
            <a:r>
              <a:rPr lang="en-US" sz="11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"Found at position "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&lt;&lt; i;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found = </a:t>
            </a:r>
            <a:r>
              <a:rPr lang="en-US" sz="11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break;  </a:t>
            </a:r>
            <a:r>
              <a:rPr lang="en-US" sz="1100" dirty="0">
                <a:solidFill>
                  <a:srgbClr val="5C63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Stop searching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34747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91B2"/>
                </a:solidFill>
              </a:rPr>
              <a:t>Output: Found at position 3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384048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64748B"/>
                </a:solidFill>
              </a:rPr>
              <a:t>Loop stops immediately when target is found - no need to continue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576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4572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8A"/>
                </a:solidFill>
              </a:rPr>
              <a:t>The continue Statement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solidFill>
            <a:srgbClr val="F59E0B">
              <a:alpha val="90000"/>
            </a:srgbClr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5" name="Text 2"/>
          <p:cNvSpPr/>
          <p:nvPr/>
        </p:nvSpPr>
        <p:spPr>
          <a:xfrm>
            <a:off x="640080" y="13258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</a:rPr>
              <a:t>Skips rest of current iteration, moves to next iteration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57200" y="1920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891B2"/>
                </a:solidFill>
              </a:rPr>
              <a:t>Syntax: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1341621" y="2103120"/>
            <a:ext cx="6430780" cy="1371600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8" name="Text 5"/>
          <p:cNvSpPr/>
          <p:nvPr/>
        </p:nvSpPr>
        <p:spPr>
          <a:xfrm>
            <a:off x="1554480" y="2423160"/>
            <a:ext cx="6035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13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 = </a:t>
            </a:r>
            <a:r>
              <a:rPr lang="en-US" sz="13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i &lt; </a:t>
            </a:r>
            <a:r>
              <a:rPr lang="en-US" sz="13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i++)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(some_condition)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continue;  </a:t>
            </a:r>
            <a:r>
              <a:rPr lang="en-US" sz="1300" dirty="0">
                <a:solidFill>
                  <a:srgbClr val="5C63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Skip rest of iteration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00" dirty="0">
                <a:solidFill>
                  <a:srgbClr val="5C63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This code is skipped when continue executes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8A"/>
                </a:solidFill>
              </a:rPr>
              <a:t>When to Use continue:</a:t>
            </a:r>
            <a:endParaRPr lang="en-US" sz="18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840480"/>
            <a:ext cx="182880" cy="1828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88720" y="3840480"/>
            <a:ext cx="7040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Skip certain values in a loop</a:t>
            </a:r>
            <a:endParaRPr lang="en-US" sz="14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114800"/>
            <a:ext cx="182880" cy="1828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88720" y="4114800"/>
            <a:ext cx="7040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Filter data (process only valid items)</a:t>
            </a:r>
            <a:endParaRPr lang="en-US" sz="14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389120"/>
            <a:ext cx="182880" cy="18288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188720" y="4389120"/>
            <a:ext cx="7040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Skip processing for special cases</a:t>
            </a:r>
            <a:endParaRPr lang="en-US" sz="14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663440"/>
            <a:ext cx="182880" cy="18288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188720" y="4663440"/>
            <a:ext cx="7040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Avoid nested if statements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576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4572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8A"/>
                </a:solidFill>
              </a:rPr>
              <a:t>continue Example: Skip Even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914400" y="1005841"/>
            <a:ext cx="7315200" cy="1662408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5" name="Text 2"/>
          <p:cNvSpPr/>
          <p:nvPr/>
        </p:nvSpPr>
        <p:spPr>
          <a:xfrm>
            <a:off x="1097280" y="1325880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</a:t>
            </a:r>
            <a:r>
              <a:rPr lang="en-US" sz="12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"Odd numbers 1-10: "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12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 = </a:t>
            </a:r>
            <a:r>
              <a:rPr lang="en-US" sz="12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i &lt;= </a:t>
            </a:r>
            <a:r>
              <a:rPr lang="en-US" sz="12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i++)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(i % </a:t>
            </a:r>
            <a:r>
              <a:rPr lang="en-US" sz="12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== </a:t>
            </a:r>
            <a:r>
              <a:rPr lang="en-US" sz="12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continue;  </a:t>
            </a:r>
            <a:r>
              <a:rPr lang="en-US" sz="1200" dirty="0">
                <a:solidFill>
                  <a:srgbClr val="5C63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Skip even numbers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i &lt;&lt; " ";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57200" y="27432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8A"/>
                </a:solidFill>
              </a:rPr>
              <a:t>Output: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1371600" y="2788920"/>
            <a:ext cx="5943600" cy="6400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8" name="Text 5"/>
          <p:cNvSpPr/>
          <p:nvPr/>
        </p:nvSpPr>
        <p:spPr>
          <a:xfrm>
            <a:off x="167890" y="2929453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Odd numbers 1-10: 1 3 5 7 9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365760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64748B"/>
                </a:solidFill>
              </a:rPr>
              <a:t>Even numbers are skipped, only odd numbers are printed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8A"/>
                </a:solidFill>
              </a:rPr>
              <a:t>break vs continue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91B2"/>
                </a:solidFill>
              </a:rPr>
              <a:t>break - Exit Loop Completely: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4023360" cy="1097280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(i = </a:t>
            </a:r>
            <a:r>
              <a:rPr lang="en-US" sz="12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i &lt;= </a:t>
            </a:r>
            <a:r>
              <a:rPr lang="en-US" sz="12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i++)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(i == </a:t>
            </a:r>
            <a:r>
              <a:rPr lang="en-US" sz="12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2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break;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cout &lt;&lt; i;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</a:rPr>
              <a:t>Output: 1 2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971800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</a:rPr>
              <a:t>Loop stops at i=3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663440" y="11887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91B2"/>
                </a:solidFill>
              </a:rPr>
              <a:t>continue - Skip to Next Iteration: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663440" y="1554480"/>
            <a:ext cx="4023360" cy="1097280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10" name="Text 8"/>
          <p:cNvSpPr/>
          <p:nvPr/>
        </p:nvSpPr>
        <p:spPr>
          <a:xfrm>
            <a:off x="4846320" y="169164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(i = </a:t>
            </a:r>
            <a:r>
              <a:rPr lang="en-US" sz="12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i &lt;= </a:t>
            </a:r>
            <a:r>
              <a:rPr lang="en-US" sz="12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i++)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(i == </a:t>
            </a:r>
            <a:r>
              <a:rPr lang="en-US" sz="12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2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continue;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cout &lt;&lt; i;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63440" y="2743200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</a:rPr>
              <a:t>Output: 1 2 4 5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63440" y="2971800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</a:rPr>
              <a:t>Skips i=3, continues loop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474720"/>
            <a:ext cx="8229600" cy="9144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14" name="Text 12"/>
          <p:cNvSpPr/>
          <p:nvPr/>
        </p:nvSpPr>
        <p:spPr>
          <a:xfrm>
            <a:off x="640080" y="361188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8A"/>
                </a:solidFill>
              </a:rPr>
              <a:t>Key Differences: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4400" y="3886200"/>
            <a:ext cx="7589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break exits the entire loop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14400" y="4114800"/>
            <a:ext cx="7589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continue skips only current iteration, loop continues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576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4572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8A"/>
                </a:solidFill>
              </a:rPr>
              <a:t>Practice Exercises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457200" y="1371600"/>
            <a:ext cx="402336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5" name="Shape 2"/>
          <p:cNvSpPr/>
          <p:nvPr/>
        </p:nvSpPr>
        <p:spPr>
          <a:xfrm>
            <a:off x="548640" y="1508760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6" name="Text 3"/>
          <p:cNvSpPr/>
          <p:nvPr/>
        </p:nvSpPr>
        <p:spPr>
          <a:xfrm>
            <a:off x="548640" y="15087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60120" y="1444752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</a:rPr>
              <a:t>Square Pattern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60120" y="1691640"/>
            <a:ext cx="3429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Print square using nested loops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800600" y="1371600"/>
            <a:ext cx="402336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10" name="Shape 7"/>
          <p:cNvSpPr/>
          <p:nvPr/>
        </p:nvSpPr>
        <p:spPr>
          <a:xfrm>
            <a:off x="4892040" y="1508760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11" name="Text 8"/>
          <p:cNvSpPr/>
          <p:nvPr/>
        </p:nvSpPr>
        <p:spPr>
          <a:xfrm>
            <a:off x="4892040" y="15087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303520" y="1444752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</a:rPr>
              <a:t>Hollow Rectangle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303520" y="1691640"/>
            <a:ext cx="3429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Print hollow rectangle pattern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2057400"/>
            <a:ext cx="402336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15" name="Shape 12"/>
          <p:cNvSpPr/>
          <p:nvPr/>
        </p:nvSpPr>
        <p:spPr>
          <a:xfrm>
            <a:off x="548640" y="2194560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16" name="Text 13"/>
          <p:cNvSpPr/>
          <p:nvPr/>
        </p:nvSpPr>
        <p:spPr>
          <a:xfrm>
            <a:off x="548640" y="21945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960120" y="2130552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</a:rPr>
              <a:t>Pascal's Triangle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960120" y="2377440"/>
            <a:ext cx="3429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Generate Pascal's triangle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800600" y="2057400"/>
            <a:ext cx="402336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20" name="Shape 17"/>
          <p:cNvSpPr/>
          <p:nvPr/>
        </p:nvSpPr>
        <p:spPr>
          <a:xfrm>
            <a:off x="4892040" y="2194560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21" name="Text 18"/>
          <p:cNvSpPr/>
          <p:nvPr/>
        </p:nvSpPr>
        <p:spPr>
          <a:xfrm>
            <a:off x="4892040" y="21945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303520" y="2130552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</a:rPr>
              <a:t>Sum Until STOP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5303520" y="2377440"/>
            <a:ext cx="3429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do-while loop with string input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2743200"/>
            <a:ext cx="402336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25" name="Shape 22"/>
          <p:cNvSpPr/>
          <p:nvPr/>
        </p:nvSpPr>
        <p:spPr>
          <a:xfrm>
            <a:off x="548640" y="2880360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26" name="Text 23"/>
          <p:cNvSpPr/>
          <p:nvPr/>
        </p:nvSpPr>
        <p:spPr>
          <a:xfrm>
            <a:off x="548640" y="2880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960120" y="2816352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</a:rPr>
              <a:t>Find Divisors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960120" y="3063240"/>
            <a:ext cx="3429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Use continue to skip non-divisors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800600" y="2743200"/>
            <a:ext cx="402336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30" name="Shape 27"/>
          <p:cNvSpPr/>
          <p:nvPr/>
        </p:nvSpPr>
        <p:spPr>
          <a:xfrm>
            <a:off x="4892040" y="2880360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31" name="Text 28"/>
          <p:cNvSpPr/>
          <p:nvPr/>
        </p:nvSpPr>
        <p:spPr>
          <a:xfrm>
            <a:off x="4892040" y="2880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5303520" y="2816352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</a:rPr>
              <a:t>Diamond Pattern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5303520" y="3063240"/>
            <a:ext cx="3429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Nested loops for diamond shape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3429000"/>
            <a:ext cx="402336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35" name="Shape 32"/>
          <p:cNvSpPr/>
          <p:nvPr/>
        </p:nvSpPr>
        <p:spPr>
          <a:xfrm>
            <a:off x="548640" y="3566160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36" name="Text 33"/>
          <p:cNvSpPr/>
          <p:nvPr/>
        </p:nvSpPr>
        <p:spPr>
          <a:xfrm>
            <a:off x="548640" y="35661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7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960120" y="3502152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</a:rPr>
              <a:t>Prime Factorization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960120" y="3749040"/>
            <a:ext cx="3429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Find all prime factors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800600" y="3429000"/>
            <a:ext cx="402336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40" name="Shape 37"/>
          <p:cNvSpPr/>
          <p:nvPr/>
        </p:nvSpPr>
        <p:spPr>
          <a:xfrm>
            <a:off x="4892040" y="3566160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41" name="Text 38"/>
          <p:cNvSpPr/>
          <p:nvPr/>
        </p:nvSpPr>
        <p:spPr>
          <a:xfrm>
            <a:off x="4892040" y="35661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8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5303520" y="3502152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</a:rPr>
              <a:t>Guessing Game</a:t>
            </a:r>
            <a:endParaRPr lang="en-US" sz="1300" dirty="0"/>
          </a:p>
        </p:txBody>
      </p:sp>
      <p:sp>
        <p:nvSpPr>
          <p:cNvPr id="43" name="Text 40"/>
          <p:cNvSpPr/>
          <p:nvPr/>
        </p:nvSpPr>
        <p:spPr>
          <a:xfrm>
            <a:off x="5303520" y="3749040"/>
            <a:ext cx="3429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5 attempts with break on correct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457200" y="4297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64748B"/>
                </a:solidFill>
              </a:rPr>
              <a:t>All solutions available in lecture notes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What We Learned Today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554480"/>
            <a:ext cx="228600" cy="228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91640" y="1554480"/>
            <a:ext cx="5760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1F5F9"/>
                </a:solidFill>
              </a:rPr>
              <a:t>Nested loops - Loops inside loops for patterns</a:t>
            </a:r>
            <a:endParaRPr lang="en-US" sz="17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892808"/>
            <a:ext cx="228600" cy="228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691640" y="1892808"/>
            <a:ext cx="5760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1F5F9"/>
                </a:solidFill>
              </a:rPr>
              <a:t>do-while loop - Executes at least once</a:t>
            </a:r>
            <a:endParaRPr lang="en-US" sz="17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231136"/>
            <a:ext cx="228600" cy="2286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691640" y="2231136"/>
            <a:ext cx="5760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1F5F9"/>
                </a:solidFill>
              </a:rPr>
              <a:t>break statement - Exit loop immediately</a:t>
            </a:r>
            <a:endParaRPr lang="en-US" sz="17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569464"/>
            <a:ext cx="228600" cy="22860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691640" y="2569464"/>
            <a:ext cx="5760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1F5F9"/>
                </a:solidFill>
              </a:rPr>
              <a:t>continue statement - Skip to next iteration</a:t>
            </a:r>
            <a:endParaRPr lang="en-US" sz="17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907792"/>
            <a:ext cx="228600" cy="22860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691640" y="2907792"/>
            <a:ext cx="5760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1F5F9"/>
                </a:solidFill>
              </a:rPr>
              <a:t>Loop patterns - Triangles, pyramids, shapes</a:t>
            </a:r>
            <a:endParaRPr lang="en-US" sz="1700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3246120"/>
            <a:ext cx="228600" cy="228600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1691640" y="3246120"/>
            <a:ext cx="5760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1F5F9"/>
                </a:solidFill>
              </a:rPr>
              <a:t>Practical applications - Menus, validation, games</a:t>
            </a:r>
            <a:endParaRPr lang="en-US" sz="1700" dirty="0"/>
          </a:p>
        </p:txBody>
      </p:sp>
      <p:sp>
        <p:nvSpPr>
          <p:cNvPr id="15" name="Text 7"/>
          <p:cNvSpPr/>
          <p:nvPr/>
        </p:nvSpPr>
        <p:spPr>
          <a:xfrm>
            <a:off x="914400" y="4023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</a:rPr>
              <a:t>Next: Arrays and multi-dimensional arrays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576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4572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8A"/>
                </a:solidFill>
              </a:rPr>
              <a:t>Homework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457200" y="1371600"/>
            <a:ext cx="8229600" cy="8686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5" name="Shape 2"/>
          <p:cNvSpPr/>
          <p:nvPr/>
        </p:nvSpPr>
        <p:spPr>
          <a:xfrm>
            <a:off x="640080" y="150876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6" name="Text 3"/>
          <p:cNvSpPr/>
          <p:nvPr/>
        </p:nvSpPr>
        <p:spPr>
          <a:xfrm>
            <a:off x="64008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280160" y="1508760"/>
            <a:ext cx="7223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8A"/>
                </a:solidFill>
              </a:rPr>
              <a:t>Hollow Diamond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280160" y="1828800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Print a hollow diamond pattern using nested loops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7200" y="2377440"/>
            <a:ext cx="8229600" cy="8686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10" name="Shape 7"/>
          <p:cNvSpPr/>
          <p:nvPr/>
        </p:nvSpPr>
        <p:spPr>
          <a:xfrm>
            <a:off x="640080" y="251460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11" name="Text 8"/>
          <p:cNvSpPr/>
          <p:nvPr/>
        </p:nvSpPr>
        <p:spPr>
          <a:xfrm>
            <a:off x="640080" y="2514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2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1280160" y="2514600"/>
            <a:ext cx="7223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8A"/>
                </a:solidFill>
              </a:rPr>
              <a:t>Calculator Program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280160" y="2834640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Create calculator using do-while that runs until user exits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57200" y="3383280"/>
            <a:ext cx="8229600" cy="8686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15" name="Shape 12"/>
          <p:cNvSpPr/>
          <p:nvPr/>
        </p:nvSpPr>
        <p:spPr>
          <a:xfrm>
            <a:off x="640080" y="352044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16" name="Text 13"/>
          <p:cNvSpPr/>
          <p:nvPr/>
        </p:nvSpPr>
        <p:spPr>
          <a:xfrm>
            <a:off x="640080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3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1280160" y="3520440"/>
            <a:ext cx="7223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8A"/>
                </a:solidFill>
              </a:rPr>
              <a:t>Armstrong Numbers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1280160" y="3840480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Find all Armstrong numbers 1-1000 (e.g., 153 = 1³ + 5³ + 3³)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64748B"/>
                </a:solidFill>
              </a:rPr>
              <a:t>Master these techniques through practice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891B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164592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743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</a:rPr>
              <a:t>Great Job!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914400" y="3474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1F5F9"/>
                </a:solidFill>
              </a:rPr>
              <a:t>Practice advanced loops and see you next time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1177</Words>
  <Application>Microsoft Macintosh PowerPoint</Application>
  <PresentationFormat>On-screen Show (16:9)</PresentationFormat>
  <Paragraphs>231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5: Advanced Loops</dc:title>
  <dc:subject>PptxGenJS Presentation</dc:subject>
  <dc:creator>C++ Course</dc:creator>
  <cp:lastModifiedBy>Fawaz Alazemi</cp:lastModifiedBy>
  <cp:revision>2</cp:revision>
  <dcterms:created xsi:type="dcterms:W3CDTF">2026-02-13T11:07:12Z</dcterms:created>
  <dcterms:modified xsi:type="dcterms:W3CDTF">2026-02-13T11:15:34Z</dcterms:modified>
</cp:coreProperties>
</file>